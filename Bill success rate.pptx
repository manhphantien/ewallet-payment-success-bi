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9" r:id="rId3"/>
    <p:sldId id="270" r:id="rId4"/>
    <p:sldId id="259" r:id="rId5"/>
    <p:sldId id="260" r:id="rId6"/>
    <p:sldId id="261" r:id="rId7"/>
    <p:sldId id="262" r:id="rId8"/>
    <p:sldId id="265" r:id="rId9"/>
    <p:sldId id="266" r:id="rId10"/>
    <p:sldId id="268"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C2D486C-2541-F927-B5D4-64A29B8CF6D5}">
          <p14:sldIdLst>
            <p14:sldId id="256"/>
          </p14:sldIdLst>
        </p14:section>
        <p14:section name="Overview" id="{E78684F2-291E-825D-93B1-DE61F91C856D}">
          <p14:sldIdLst>
            <p14:sldId id="269"/>
            <p14:sldId id="270"/>
          </p14:sldIdLst>
        </p14:section>
        <p14:section name="Insights" id="{FA3E07E0-706F-21DD-6236-AFFF3C799D32}">
          <p14:sldIdLst>
            <p14:sldId id="259"/>
            <p14:sldId id="260"/>
            <p14:sldId id="261"/>
            <p14:sldId id="262"/>
            <p14:sldId id="265"/>
            <p14:sldId id="266"/>
          </p14:sldIdLst>
        </p14:section>
        <p14:section name="Summary" id="{356B50DB-EF59-A859-53C9-EF6486E5D664}">
          <p14:sldIdLst/>
        </p14:section>
        <p14:section name="Recommendation" id="{BC81A80F-804E-D57D-CBD5-FE8481E541A2}">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162" y="45"/>
      </p:cViewPr>
      <p:guideLst/>
    </p:cSldViewPr>
  </p:slideViewPr>
  <p:notesTextViewPr>
    <p:cViewPr>
      <p:scale>
        <a:sx n="1" d="1"/>
        <a:sy n="1" d="1"/>
      </p:scale>
      <p:origin x="0" y="0"/>
    </p:cViewPr>
  </p:notesTextViewPr>
  <p:notesViewPr>
    <p:cSldViewPr snapToGrid="0" snapToObjects="1">
      <p:cViewPr varScale="1">
        <p:scale>
          <a:sx n="50" d="100"/>
          <a:sy n="50" d="100"/>
        </p:scale>
        <p:origin x="3126" y="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9158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deck explains why the Billing success rate dropped after July 28, 2023, and what to fix first. Data: 32,122 transactions, 49,675 sessions, 435,658 app events and 1,500 users (Jul 1 - Aug 31, 2023).</a:t>
            </a:r>
          </a:p>
          <a:p>
            <a:r>
              <a:t>How to read it: Before = Jul 1-27, After = Jul 28-Aug 31 (the day of app release v3.9.6). Dates come from the sessions table (transaction_date is shifted by up to 25 hours on about 15% of rows). Every number comes from the dataset. Statements about mechanisms are inferences and are marked 'most likely': the data has no server or deploy logs.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F5E6E-D2B3-14B7-271D-D83630AC1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852C9-CB3D-36F6-4D55-3791FEF80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BD82A-31E4-F560-88B1-5FBC627EE0A5}"/>
              </a:ext>
            </a:extLst>
          </p:cNvPr>
          <p:cNvSpPr>
            <a:spLocks noGrp="1"/>
          </p:cNvSpPr>
          <p:nvPr>
            <p:ph type="body" idx="1"/>
          </p:nvPr>
        </p:nvSpPr>
        <p:spPr/>
        <p:txBody>
          <a:bodyPr/>
          <a:lstStyle/>
          <a:p>
            <a:r>
              <a:t>Overall success rate fell from 92.1% to 87.3% after July 28 (-4.8 pp). Every day after July 28 stayed below the old average (best day 91.4%; the worst day before was 90.0%). The date matches app release v3.9.6.</a:t>
            </a:r>
          </a:p>
          <a:p>
            <a:r>
              <a:t>Deeper look: the fall is a step on one day, not a slow decline. In incident work the first question is 'what changed?': the Google SRE book reports that roughly 70% of outages are due to changes in a live system. Transactions per day rose from 454 to 567 (+25%), so the drop reached more people. A blended rate hides local problems: the next slide shows that one product, Billing, carries most of it.</a:t>
            </a:r>
          </a:p>
        </p:txBody>
      </p:sp>
      <p:sp>
        <p:nvSpPr>
          <p:cNvPr id="4" name="Slide Number Placeholder 3">
            <a:extLst>
              <a:ext uri="{FF2B5EF4-FFF2-40B4-BE49-F238E27FC236}">
                <a16:creationId xmlns:a16="http://schemas.microsoft.com/office/drawing/2014/main" id="{0675E698-1B86-6948-EE92-D02D21127D56}"/>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58399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25364-3EC2-EA82-355F-076C80117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054FF-C53B-192E-E6F0-ADB2CBD15B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4F523-6BC5-E1FD-A174-9C7A76F17428}"/>
              </a:ext>
            </a:extLst>
          </p:cNvPr>
          <p:cNvSpPr>
            <a:spLocks noGrp="1"/>
          </p:cNvSpPr>
          <p:nvPr>
            <p:ph type="body" idx="1"/>
          </p:nvPr>
        </p:nvSpPr>
        <p:spPr/>
        <p:txBody>
          <a:bodyPr/>
          <a:lstStyle/>
          <a:p>
            <a:r>
              <a:t>Transfers, deposits and withdrawals did not change. Payments fell from 87.0% to 79.9%. Inside payments, Billing fell the most (-17.2 pp). Billing is 20.5% of transactions after Jul 28 but 43.9% of all failed transactions (16.9% before).</a:t>
            </a:r>
          </a:p>
          <a:p>
            <a:r>
              <a:t>Deeper look: Billing's own rate fall explains 73% of the overall -4.8 pp (-3.5 pp). The other categories moved by -7 pp (Traveling), -6 (Movies), -3 (Telco, FnB) and -1 to +1 (the rest). With 139-268 payments in the smaller categories, two-proportion z-tests stay below 2 (normal noise), while Billing's change has z = 14. Merchant payments use the same banks, cards and OTP/3DS and stayed at 86.6% -&gt; 86.6% (1,952 and 4,605 payments). They are a control group: whatever broke is specific to the bill flow. Difference between the two flows: -17.3 pp.</a:t>
            </a:r>
          </a:p>
        </p:txBody>
      </p:sp>
      <p:sp>
        <p:nvSpPr>
          <p:cNvPr id="4" name="Slide Number Placeholder 3">
            <a:extLst>
              <a:ext uri="{FF2B5EF4-FFF2-40B4-BE49-F238E27FC236}">
                <a16:creationId xmlns:a16="http://schemas.microsoft.com/office/drawing/2014/main" id="{065DBCF6-F04A-BB4B-8B8D-9BF15EA4664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30294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Billing was stable around 90% for four weeks, then broke on July 28. Lowest day: 55.6% on Aug 2. The best day after Jul 28 was 82.2%, lower than the worst day before (82.5%), so the two periods do not overlap (z = 14). It did not recover after three fix releases.</a:t>
            </a:r>
          </a:p>
          <a:p>
            <a:r>
              <a:t>Deeper look: bill payments per day rose from 60 to 116 (bill users per day 59 -&gt; 112) on the day v3.9.6 shipped. The release notes added reward points for every bill payment and bill scheduling, which may explain the jump (inference). More attempts met a broken step, so successful bills per day still rose (54 -&gt; 85). A dashboard of counts can look healthy while the success rate collapses. Monitor the success rate per flow (the symptom), not only totals. Hypothesis H1 (API time-outs increase at peak traffic) is tested by trend analysis: this slide shows when the rate broke; the peak-traffic test is on slide 8. Google SRE book: 'Your monitoring system should address two questions: what's broken, and why?'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bill type and user group fell by about the same amount (-13 to -24 pp) and ended at 71-74% (the one exception, local cards at 69%, has only 29 payments). So it is not one biller, bank, device or user type.</a:t>
            </a:r>
          </a:p>
          <a:p>
            <a:r>
              <a:t>Deeper look: the spread across bill types was 7.9 pp before (86.5-94.4%) and 3.7 pp after (70.7-74.4%). When different groups converge on one level, a shared step is capping all of them. Insurance fell most (-23.7 pp) only because it started highest. Authentication route: bills that went through 3DS (mostly credit and debit cards) fell from 90.4% to 74.1%; bills that went through OTP (wallet, linked bank, and about one card payment in five) fell from 90.3% to 72.6%. Both routes fell by 16-18 pp, so the problem is not tied to one payment method. First-time vs repeat bill payers: 90.9% -&gt; 72.8% and 88.4% -&gt; 72.7%. A total per field always shows the same 89.9% -&gt; 72.7%, because every field is a split of the same 5,700 bills. Only the sub-groups can show a difference, and they show none. Hypotheses (comparative and user segment analysis): H2 (a shared issue lowers success across versions, devices, categories) partly supported: every bill type, device and user group fell, but other payment categories did not, so the shared issue sits in the bill flow. H5 (old devices or OS versions) not supported: phones fell 17.0 pp and tablets 18.0 pp, and OS versions 10 to 16 each fell 14-19 pp. H6 (first-time users or new accounts) not supported: first-time payers fell like repeat payers, and accounts under 90 days old fell from 86.1% to 70.4%, like older accounts (all 10 cities also fell by 14-24 pp). H9 (issuer banks) not supported as the cause: cards, banks and wallets fell alike, merchant payments through the same banks stayed flat, and issuing-bank errors rose only +0.9 pp (0.5% to 1.4% of bill payments). Table fix: the duplicated 'Payment method' row was replaced by the missing 'First-time vs repeat' row.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Users who did not update the app fell too (89.9% to 75.1%), almost as much as new-app users (72.1%). A bug only in the app would not do that, so the main change was most likely on the server, released together with v3.9.6. About 83% of the new-app drop (14.8 of 17.8 pp) also hit old-app users.</a:t>
            </a:r>
          </a:p>
          <a:p>
            <a:r>
              <a:t>Deeper look: the app added a small, short extra dip. In week 1 (Jul 28-Aug 4) new-app users did worse than old-app users on the same days (67.1% on 598 bills vs 76.3% on 515 bills; vs 77.6% if only v3.9.5 is used). In the later phases the gap is about 1 pp or less (-1.0, +0.9, -0.9 pp; z below 0.3). Over the whole period new vs old is -3.0 pp and not significant (z = 1.8). Why old apps are hit too: apps call the same backend through versioned APIs, so one server-side change reaches every version at once, and nothing is overwritten on the phone. This is an inference: the dataset has no server logs. Hypothesis: H2 (a shared issue lowers success across app versions, devices, categories) partly supported: old and new app versions both fell, but other payment categories did not, so the shared issue sits in the bill flow.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Bill payment failure rate rose from 10.1% to 27.3%. Authentication errors explain +12.7 pp of the +17.2 pp (74%); system errors (backend, infrastructure, gateway, integration) +2.8 pp (17%); all other groups together +1.6 pp. The two biggest errors are 3ds_timeout (1.54% -&gt; 10.26%) and otp_expired (0.31% -&gt; 3.41%): +11.8 pp, 69% of the rise.</a:t>
            </a:r>
          </a:p>
          <a:p>
            <a:r>
              <a:t>Deeper look. (1) Tail, not average: the median 3DS wait went from 12 s to 13 s, but p90 went from 18 s to 45 s and p95 from 20 s to 60 s; for OTP the p99 went from 30 s to 110 s. Averages hide slow requests, so track p95/p99 (Google SRE book, 'Worrying about your tail'). (2) Hard cut-off: when 3DS finishes within 25 s, 86% succeed (n = 1,907); above 25 s only 1 of 178 did. For OTP, 0 of 99 succeeded above 30 s. Successful payments are as fast as before (3DS p95 = 18 s in both periods); what changed is how many payments miss the cut-off: 3DS over 25 s went from 1.9% to 11.1% of 3DS payments (582 before, 1,503 after), and OTP over 30 s from 0.2% to 3.8% of OTP payments (1,036 before, 2,537 after). (3) Two or more authentication tries in one payment: 4.4% -&gt; 16.1% of bills, and none of the 726 succeeded (0 of 72 even in July). Payments with a single try also got worse (94.1% -&gt; 86.6%). Roughly 60% of the 17.2 pp fall comes from more payments needing 2+ tries and roughly 40% from lower success among single-try payments (the split moves a few points with the order of the calculation). Retries that never work point to a broken retry path (for example no fresh OTP or 3DS session on a second try): worth checking.(4) Both routes broke (3DS 90.4% -&gt; 74.1%, OTP 90.3% -&gt; 72.6%), so look at what they share. (5) Error-tree trap: all 736 authentication failures sit under L1 'USER_FACTORS'. After Jul 28 that L1 holds 725 of the 1,112 failed bills (65%), and 674 of them are authentication errors. Reading only L1 would blame users, although the same users did not change. (6) Industry norms: the EMV 3DS SDK sets a challenge time-out of at least 5 minutes; OWASP ASVS V2.7.2 (NIST ref. 5.1.3.2) expires out-of-band codes after 10 minutes. The limits seen here are 25-30 seconds. Hypotheses (funnel and error comparative analysis): H3 (drop-off at a process step) partly supported: payments are lost at one step of the journey, authentication, but the data points to a slower step and short time limits, not to the screen design. H4 (users wait for feedback or drop off) partly supported: the wait at this step grew in the tail and users whose payment failed rarely tried again, but a hard-to-use screen is not shown to be the cause; slide 9 shows the feedback problem. H7 (low balance or limits) not supported: financial-status errors rose by only +0.4 pp.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None of the later releases fixed it. v3.9.7 moved to gateway API v3.0 and system errors doubled (3.3% to 6.8%). v3.9.9 raised transaction time-outs, but the OTP/3DS cut-offs look unchanged in the data (still no OTP success above 30 s), and auth errors rose again (11.2% to 16.0%).</a:t>
            </a:r>
          </a:p>
          <a:p>
            <a:r>
              <a:t>Deeper look: (1) Traffic test: daily bill volume and daily success rate are barely related after Jul 28 (r = 0.15); the 10 busiest days (about 139 bills a day) had 72.9% success vs 74.2% on the 10 quietest (about 101). Every hour band fell to 69-74%. Capacity problems usually show up at peak hours and on busy days; this one does not. Caveat: bill volume doubled on the same day (60 -&gt; 116 a day), so a load effect cannot be fully separated from the release effect with this data. Server load and p95 authentication latency would settle it. (2) Phase view: Before 89.9%, 3.9.6 live 71.3%, 3.9.7 live 71.0%, 3.9.8 live 77.3%, 3.9.9 live 72.7%. The best phase is still 12.6 pp below the old level. Only the 3.9.8 phase improved (about +6 pp; z = 3.1 vs the 3.9.7 phase, 2.3 vs the 3.9.9 phase). Its release notes list a redesigned payment flow and queue management for high-traffic periods, which is a lead for what helped; it is not proof, because the phases are short and other changes overlap. Load check: bills per day were 139 in the 3.9.6 phase and about 110 in the later phases, yet the success rate was the same in the first two phases (71.3% and 71.0%). (3) Security-check test: the 3.9.6 notes say face ID is for high-value payments, but every amount band fell (under $100: -16.5 pp, $100-200: -12.1, $200-300: -20.4, $300-400: -21.3, $400-500: -21.1) and fraud blocks went down (0.62% -&gt; 0.49%). The checks themselves are unlikely to block good users; a slower server-side authentication step is the better fit. (4) Limits: release dates match the metric moves, but release notes are not deploy logs. To confirm, compare p95 authentication latency and the server deploys of Jul 28. A rollback test would prove it. Hypotheses: H1 (API time-outs increase at peak traffic) not supported: no peak-hour or busy-day effect; API time-outs did rise after the releases, which belongs to H8. H8 (payment gateway downtime or errors) partly supported: system errors (backend, infrastructure, gateway, integration) rose after release 3.9.7, which moved to gateway API v3.0 (3.3% -&gt; 6.8%), and stayed high (5.0-6.0%), but they explain only about 17% of the rise. Inside them, the rise at 3.9.7 is spread over backend (+0.9 pp), infrastructure (+1.3 pp), integration (+1.0 pp) and the gateway's own errors (+0.3 pp; these grew later: 0.9% before, 2.0% in the 3.9.8 phase). Release 3.9.7 also updated bill-verification integrations and refactored payment logic, so the data cannot say that the gateway API alone caused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4% of failed bill payments were paid again within 7 days. After Jul 28, 73% of failed bills ended on a confirmation screen, 12% on a success screen, 4% on a pending screen and only 11.1% on the failure screen (36.0% before). Impact: about 701 extra failed bill payments in 5 weeks (about 20 a day), about $166K at the average failed bill of $236.</a:t>
            </a:r>
          </a:p>
          <a:p>
            <a:r>
              <a:t>Deeper look: (1) The screen depends on the error. Of the 557 time-out and expired-OTP failures, 550 (99%) ended on the confirmation screen. The 173 failures caused by server, gateway or bank time-outs and errors (backend failures, infrastructure, gateway time-out, bank time-out) never showed a failure screen: 133 (77%) showed 'success' and 40 (23%) 'pending'. The failure screen only appears for clear rejections such as a wrong OTP, a limit or the user leaving. Merchant payments that fail still show the failure screen 43% of the time (51% before). (2) The confirmation-screen event is logged 2-5 s after the payment status event, so it is a result screen shown after the outcome, not the review step before paying. (3) Re-pay rate: 4.0% after vs 4.3% before. Users who saw the failure screen paid again 3.3% of the time (n = 123) vs 4.3% for those on confirmation or success (n = 949), no real difference (z = -0.6): a clear message alone will not recover the bill, it needs a 1-tap retry or an automatic retry. (4) Reach: 773 of 1,411 bill users (55%) had at least one failed bill after Jul 28; in a same-length window the share was 49.5% vs 15.3% in July. (5) No churn signal yet: 97.5% of users with a failed bill made another transaction within 14 days (97.0% after a success). The cost is lost bill payments and trust, and longer-term churn is outside this data. (6) Data note: result-screen events exist for every failed bill but only for 15% of successful bills, so screens are compared among failed bills only. Late fees, support tickets and fee revenue are possible costs and are not measured here. Hypothesis: H4 (users wait for feedback or drop off) partly supported: users get little feedback when a payment fails and rarely try again, which makes the damage worse, but a hard-to-use screen is not shown to be what started the drop.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actions, in the order of an incident: stop the damage (1), fix the cause (2, 3), make failures visible and recoverable (4), detect earlier (5). Goal: back to the 89.9% baseline, about 20 more paid bills per day.</a:t>
            </a:r>
          </a:p>
          <a:p>
            <a:r>
              <a:t>How big is each lever? Time-outs and expired OTPs are 557 of the 1,112 failed bills after Jul 28 (50%) and 69% of the rise, so action 2 is the biggest. Server, gateway and bank time-outs and errors are 173 failed bills (16%) and system errors are about 17% of the rise, so action 3 is second. These are upper bounds: we cannot know how many slow payments would succeed with a longer limit, which is why the change should be tested on a small share of users first. Industry notes: (1) Google SRE book: roughly 70% of outages are due to changes in a live system; best practice is progressive rollouts, quick detection and safe rollback. The SRE Workbook describes canarying as a partial, time-limited deployment that is evaluated against the rest of the service, with rollback when the canary's error rate is too far from the control. (2) EMV 3DS SDK: challenge time-out of at least 5 minutes. OWASP ASVS V2.7.2 (NIST ref. 5.1.3.2): out-of-band codes expire after 10 minutes. (3) Stripe: idempotency keys allow retries without performing the same operation twice. (4) Show 'success' only after the server confirms; an unknown outcome should be shown as pending and checked again. (5) The alert rule (last 100 bill payments below 80%) fired on Jul 28 at 15:53 in a backtest and raised no false alarm in July. Google SRE book: monitor symptoms (what is broken) and causes (why). (6) Taxonomy: file 3ds_timeout and otp_expired under a system or authentication-service group so the alert goes to engineering, not to user education.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66800" y="2487168"/>
            <a:ext cx="5505450" cy="1097280"/>
          </a:xfrm>
          <a:prstGeom prst="rect">
            <a:avLst/>
          </a:prstGeom>
          <a:noFill/>
          <a:ln/>
        </p:spPr>
        <p:txBody>
          <a:bodyPr wrap="square" rtlCol="0"/>
          <a:lstStyle>
            <a:lvl1pPr marL="0" indent="0" algn="l">
              <a:buNone/>
              <a:defRPr lang="en-US" sz="3300" b="1" dirty="0">
                <a:solidFill>
                  <a:schemeClr val="tx1"/>
                </a:solidFill>
              </a:defRPr>
            </a:lvl1pPr>
          </a:lstStyle>
          <a:p>
            <a:pPr marL="0" indent="0" algn="l">
              <a:buNone/>
            </a:pPr>
            <a:endParaRPr lang="en-US" sz="3300" dirty="0"/>
          </a:p>
        </p:txBody>
      </p:sp>
      <p:sp>
        <p:nvSpPr>
          <p:cNvPr id="3" name="Text 0"/>
          <p:cNvSpPr>
            <a:spLocks noGrp="1"/>
          </p:cNvSpPr>
          <p:nvPr>
            <p:ph type="body" idx="101" hasCustomPrompt="1"/>
          </p:nvPr>
        </p:nvSpPr>
        <p:spPr>
          <a:xfrm>
            <a:off x="1066800" y="3639312"/>
            <a:ext cx="5505450" cy="292608"/>
          </a:xfrm>
          <a:prstGeom prst="rect">
            <a:avLst/>
          </a:prstGeom>
          <a:noFill/>
          <a:ln/>
        </p:spPr>
        <p:txBody>
          <a:bodyPr wrap="square" rtlCol="0"/>
          <a:lstStyle>
            <a:lvl1pPr marL="0" indent="0" algn="l">
              <a:buNone/>
              <a:defRPr lang="en-US" sz="1350" dirty="0">
                <a:solidFill>
                  <a:schemeClr val="accent3"/>
                </a:solidFill>
              </a:defRPr>
            </a:lvl1pPr>
          </a:lstStyle>
          <a:p>
            <a:pPr marL="0" indent="0" algn="l">
              <a:buNone/>
            </a:pPr>
            <a:endParaRPr lang="en-US" sz="13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33400" y="658368"/>
            <a:ext cx="11125200" cy="384048"/>
          </a:xfrm>
          <a:prstGeom prst="rect">
            <a:avLst/>
          </a:prstGeom>
          <a:noFill/>
          <a:ln/>
        </p:spPr>
        <p:txBody>
          <a:bodyPr wrap="square" rtlCol="0"/>
          <a:lstStyle>
            <a:lvl1pPr marL="0" indent="0" algn="l">
              <a:buNone/>
              <a:defRPr lang="en-US" sz="2000" b="1" dirty="0">
                <a:solidFill>
                  <a:schemeClr val="tx1"/>
                </a:solidFill>
              </a:defRPr>
            </a:lvl1pPr>
          </a:lstStyle>
          <a:p>
            <a:pPr marL="0" indent="0" algn="l">
              <a:buNone/>
            </a:pPr>
            <a:endParaRPr lang="en-US" sz="2000" dirty="0"/>
          </a:p>
        </p:txBody>
      </p:sp>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card"/>
          <p:cNvSpPr/>
          <p:nvPr/>
        </p:nvSpPr>
        <p:spPr>
          <a:xfrm>
            <a:off x="2946400" y="860298"/>
            <a:ext cx="6572250" cy="5029200"/>
          </a:xfrm>
          <a:prstGeom prst="roundRect">
            <a:avLst>
              <a:gd name="adj" fmla="val 4909"/>
            </a:avLst>
          </a:prstGeom>
          <a:solidFill>
            <a:schemeClr val="bg1"/>
          </a:solidFill>
          <a:ln/>
          <a:effectLst>
            <a:outerShdw blurRad="228600" dist="50800" dir="5400000" algn="bl" rotWithShape="0">
              <a:srgbClr val="0284C7">
                <a:alpha val="14000"/>
              </a:srgbClr>
            </a:outerShdw>
          </a:effectLst>
        </p:spPr>
        <p:txBody>
          <a:bodyPr/>
          <a:lstStyle/>
          <a:p>
            <a:endParaRPr lang="en-US"/>
          </a:p>
        </p:txBody>
      </p:sp>
      <p:sp>
        <p:nvSpPr>
          <p:cNvPr id="3" name="Section tag"/>
          <p:cNvSpPr txBox="1"/>
          <p:nvPr/>
        </p:nvSpPr>
        <p:spPr>
          <a:xfrm>
            <a:off x="3479800" y="2067306"/>
            <a:ext cx="1805026"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ROOT CAUSE ANALYSIS</a:t>
            </a:r>
            <a:endParaRPr lang="en-US" sz="800" dirty="0"/>
          </a:p>
        </p:txBody>
      </p:sp>
      <p:sp>
        <p:nvSpPr>
          <p:cNvPr id="4" name="Text 0"/>
          <p:cNvSpPr>
            <a:spLocks noGrp="1"/>
          </p:cNvSpPr>
          <p:nvPr>
            <p:ph type="title" idx="100" hasCustomPrompt="1"/>
          </p:nvPr>
        </p:nvSpPr>
        <p:spPr>
          <a:xfrm>
            <a:off x="3479800" y="2433066"/>
            <a:ext cx="5505450" cy="1097280"/>
          </a:xfrm>
          <a:prstGeom prst="rect">
            <a:avLst/>
          </a:prstGeom>
          <a:noFill/>
          <a:ln/>
        </p:spPr>
        <p:txBody>
          <a:bodyPr wrap="square" lIns="0" tIns="0" rIns="0" bIns="0" rtlCol="0" anchor="t"/>
          <a:lstStyle/>
          <a:p>
            <a:pPr marL="0" indent="0" algn="l">
              <a:buNone/>
            </a:pPr>
            <a:r>
              <a:rPr lang="en-US" sz="3300" b="1" dirty="0">
                <a:solidFill>
                  <a:schemeClr val="tx1"/>
                </a:solidFill>
              </a:rPr>
              <a:t>Bill Payment Success Rate Drop Analysis</a:t>
            </a:r>
            <a:endParaRPr lang="en-US" sz="3300" dirty="0"/>
          </a:p>
        </p:txBody>
      </p:sp>
      <p:sp>
        <p:nvSpPr>
          <p:cNvPr id="5" name="Text 0"/>
          <p:cNvSpPr>
            <a:spLocks noGrp="1"/>
          </p:cNvSpPr>
          <p:nvPr>
            <p:ph type="body" idx="101" hasCustomPrompt="1"/>
          </p:nvPr>
        </p:nvSpPr>
        <p:spPr>
          <a:xfrm>
            <a:off x="3479800" y="3585210"/>
            <a:ext cx="5505450" cy="292608"/>
          </a:xfrm>
          <a:prstGeom prst="rect">
            <a:avLst/>
          </a:prstGeom>
          <a:noFill/>
          <a:ln/>
        </p:spPr>
        <p:txBody>
          <a:bodyPr wrap="square" lIns="0" tIns="0" rIns="0" bIns="0" rtlCol="0" anchor="t"/>
          <a:lstStyle/>
          <a:p>
            <a:pPr marL="0" indent="0" algn="l">
              <a:buNone/>
            </a:pPr>
            <a:r>
              <a:rPr lang="en-US" sz="1350" dirty="0">
                <a:solidFill>
                  <a:schemeClr val="accent3"/>
                </a:solidFill>
              </a:rPr>
              <a:t>E-Wallet product analytics · Jul 1 – Aug 31, 2023</a:t>
            </a:r>
            <a:endParaRPr lang="en-US" sz="1350" dirty="0"/>
          </a:p>
        </p:txBody>
      </p:sp>
      <p:sp>
        <p:nvSpPr>
          <p:cNvPr id="6" name="Dataset size"/>
          <p:cNvSpPr txBox="1"/>
          <p:nvPr/>
        </p:nvSpPr>
        <p:spPr>
          <a:xfrm>
            <a:off x="3479800" y="3932682"/>
            <a:ext cx="5505450" cy="228600"/>
          </a:xfrm>
          <a:prstGeom prst="rect">
            <a:avLst/>
          </a:prstGeom>
          <a:noFill/>
          <a:ln/>
        </p:spPr>
        <p:txBody>
          <a:bodyPr wrap="square" lIns="0" tIns="0" rIns="0" bIns="0" rtlCol="0" anchor="ctr"/>
          <a:lstStyle/>
          <a:p>
            <a:pPr marL="0" indent="0">
              <a:buNone/>
            </a:pPr>
            <a:r>
              <a:rPr lang="en-US" sz="1000" dirty="0">
                <a:solidFill>
                  <a:schemeClr val="tx2"/>
                </a:solidFill>
              </a:rPr>
              <a:t>32,122 transactions · 49,675 sessions · 435,658 app events · 1,500 users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635F2-97C7-A705-057A-C734A3C1888F}"/>
            </a:ext>
          </a:extLst>
        </p:cNvPr>
        <p:cNvGrpSpPr/>
        <p:nvPr/>
      </p:nvGrpSpPr>
      <p:grpSpPr>
        <a:xfrm>
          <a:off x="0" y="0"/>
          <a:ext cx="0" cy="0"/>
          <a:chOff x="0" y="0"/>
          <a:chExt cx="0" cy="0"/>
        </a:xfrm>
      </p:grpSpPr>
      <p:sp>
        <p:nvSpPr>
          <p:cNvPr id="2" name="Section tag">
            <a:extLst>
              <a:ext uri="{FF2B5EF4-FFF2-40B4-BE49-F238E27FC236}">
                <a16:creationId xmlns:a16="http://schemas.microsoft.com/office/drawing/2014/main" id="{861695A6-422C-E79B-25B2-8A43FAB72814}"/>
              </a:ext>
            </a:extLst>
          </p:cNvPr>
          <p:cNvSpPr txBox="1"/>
          <p:nvPr/>
        </p:nvSpPr>
        <p:spPr>
          <a:xfrm>
            <a:off x="533400" y="361950"/>
            <a:ext cx="940003"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OVERVIEW</a:t>
            </a:r>
            <a:endParaRPr lang="en-US" sz="800" dirty="0"/>
          </a:p>
        </p:txBody>
      </p:sp>
      <p:sp>
        <p:nvSpPr>
          <p:cNvPr id="3" name="Text 0">
            <a:extLst>
              <a:ext uri="{FF2B5EF4-FFF2-40B4-BE49-F238E27FC236}">
                <a16:creationId xmlns:a16="http://schemas.microsoft.com/office/drawing/2014/main" id="{B7461D27-2AD9-C02E-3398-73764EFCB6B0}"/>
              </a:ext>
            </a:extLst>
          </p:cNvPr>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pPr marL="0" indent="0" algn="l">
              <a:buNone/>
            </a:pPr>
            <a:r>
              <a:rPr lang="en-US" sz="2000" b="1" dirty="0">
                <a:solidFill>
                  <a:schemeClr val="tx1"/>
                </a:solidFill>
              </a:rPr>
              <a:t>Success rate fell from 92.1% to 87.3% after July 28</a:t>
            </a:r>
            <a:endParaRPr lang="en-US" sz="2000" dirty="0"/>
          </a:p>
        </p:txBody>
      </p:sp>
      <p:sp>
        <p:nvSpPr>
          <p:cNvPr id="4" name="Chart card">
            <a:extLst>
              <a:ext uri="{FF2B5EF4-FFF2-40B4-BE49-F238E27FC236}">
                <a16:creationId xmlns:a16="http://schemas.microsoft.com/office/drawing/2014/main" id="{EC5A282C-67D1-AE48-C719-C94B4FF0D3E1}"/>
              </a:ext>
            </a:extLst>
          </p:cNvPr>
          <p:cNvSpPr/>
          <p:nvPr/>
        </p:nvSpPr>
        <p:spPr>
          <a:xfrm>
            <a:off x="536852" y="1317498"/>
            <a:ext cx="838200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11" name="KPI tile">
            <a:extLst>
              <a:ext uri="{FF2B5EF4-FFF2-40B4-BE49-F238E27FC236}">
                <a16:creationId xmlns:a16="http://schemas.microsoft.com/office/drawing/2014/main" id="{A538740A-833C-E31A-273F-7A7776832A04}"/>
              </a:ext>
            </a:extLst>
          </p:cNvPr>
          <p:cNvSpPr txBox="1"/>
          <p:nvPr/>
        </p:nvSpPr>
        <p:spPr>
          <a:xfrm>
            <a:off x="9105900" y="1317498"/>
            <a:ext cx="2552700" cy="1193800"/>
          </a:xfrm>
          <a:prstGeom prst="roundRect">
            <a:avLst>
              <a:gd name="adj" fmla="val 11489"/>
            </a:avLst>
          </a:prstGeom>
          <a:solidFill>
            <a:schemeClr val="bg1"/>
          </a:solidFill>
          <a:ln w="9525">
            <a:solidFill>
              <a:schemeClr val="accent2">
                <a:alpha val="28000"/>
              </a:schemeClr>
            </a:solidFill>
          </a:ln>
          <a:effectLst>
            <a:outerShdw blurRad="101600" dist="25400" dir="5400000" algn="bl" rotWithShape="0">
              <a:srgbClr val="0284C7">
                <a:alpha val="10000"/>
              </a:srgbClr>
            </a:outerShdw>
          </a:effectLst>
        </p:spPr>
        <p:txBody>
          <a:bodyPr wrap="square" lIns="177800" tIns="50800" rIns="177800" bIns="50800" rtlCol="0" anchor="ctr"/>
          <a:lstStyle/>
          <a:p>
            <a:pPr marL="0" indent="0" algn="l">
              <a:buNone/>
            </a:pPr>
            <a:r>
              <a:rPr lang="en-US" sz="950" dirty="0">
                <a:solidFill>
                  <a:schemeClr val="tx2"/>
                </a:solidFill>
              </a:rPr>
              <a:t>Before · Jul 1–27</a:t>
            </a:r>
            <a:endParaRPr lang="en-US" sz="950" dirty="0"/>
          </a:p>
          <a:p>
            <a:pPr marL="0" indent="0" algn="l">
              <a:buNone/>
            </a:pPr>
            <a:r>
              <a:rPr lang="en-US" sz="2400" b="1" dirty="0">
                <a:solidFill>
                  <a:schemeClr val="tx1"/>
                </a:solidFill>
              </a:rPr>
              <a:t>92.1%</a:t>
            </a:r>
            <a:endParaRPr lang="en-US" sz="950" dirty="0"/>
          </a:p>
          <a:p>
            <a:pPr marL="0" indent="0" algn="l">
              <a:buNone/>
            </a:pPr>
            <a:r>
              <a:rPr lang="en-US" sz="850" dirty="0">
                <a:solidFill>
                  <a:schemeClr val="tx2"/>
                </a:solidFill>
              </a:rPr>
              <a:t>12,270 transactions</a:t>
            </a:r>
            <a:endParaRPr lang="en-US" sz="950" dirty="0"/>
          </a:p>
        </p:txBody>
      </p:sp>
      <p:sp>
        <p:nvSpPr>
          <p:cNvPr id="12" name="KPI tile">
            <a:extLst>
              <a:ext uri="{FF2B5EF4-FFF2-40B4-BE49-F238E27FC236}">
                <a16:creationId xmlns:a16="http://schemas.microsoft.com/office/drawing/2014/main" id="{16027F48-1E0B-EB2C-8769-1E897ED5B5D6}"/>
              </a:ext>
            </a:extLst>
          </p:cNvPr>
          <p:cNvSpPr txBox="1"/>
          <p:nvPr/>
        </p:nvSpPr>
        <p:spPr>
          <a:xfrm>
            <a:off x="9105900" y="2644648"/>
            <a:ext cx="2552700" cy="1193800"/>
          </a:xfrm>
          <a:prstGeom prst="roundRect">
            <a:avLst>
              <a:gd name="adj" fmla="val 11489"/>
            </a:avLst>
          </a:prstGeom>
          <a:solidFill>
            <a:schemeClr val="bg1"/>
          </a:solidFill>
          <a:ln w="9525">
            <a:solidFill>
              <a:schemeClr val="accent2">
                <a:alpha val="28000"/>
              </a:schemeClr>
            </a:solidFill>
          </a:ln>
          <a:effectLst>
            <a:outerShdw blurRad="101600" dist="25400" dir="5400000" algn="bl" rotWithShape="0">
              <a:srgbClr val="0284C7">
                <a:alpha val="10000"/>
              </a:srgbClr>
            </a:outerShdw>
          </a:effectLst>
        </p:spPr>
        <p:txBody>
          <a:bodyPr wrap="square" lIns="177800" tIns="50800" rIns="177800" bIns="50800" rtlCol="0" anchor="ctr"/>
          <a:lstStyle/>
          <a:p>
            <a:pPr marL="0" indent="0" algn="l">
              <a:buNone/>
            </a:pPr>
            <a:r>
              <a:rPr lang="en-US" sz="950" dirty="0">
                <a:solidFill>
                  <a:schemeClr val="tx2"/>
                </a:solidFill>
              </a:rPr>
              <a:t>After · Jul 28–Aug 31</a:t>
            </a:r>
            <a:endParaRPr lang="en-US" sz="950" dirty="0"/>
          </a:p>
          <a:p>
            <a:pPr marL="0" indent="0" algn="l">
              <a:buNone/>
            </a:pPr>
            <a:r>
              <a:rPr lang="en-US" sz="2400" b="1" dirty="0">
                <a:solidFill>
                  <a:schemeClr val="tx1"/>
                </a:solidFill>
              </a:rPr>
              <a:t>87.3%</a:t>
            </a:r>
            <a:endParaRPr lang="en-US" sz="950" dirty="0"/>
          </a:p>
          <a:p>
            <a:pPr marL="0" indent="0" algn="l">
              <a:buNone/>
            </a:pPr>
            <a:r>
              <a:rPr lang="en-US" sz="850" dirty="0">
                <a:solidFill>
                  <a:schemeClr val="tx2"/>
                </a:solidFill>
              </a:rPr>
              <a:t>19,852 transactions</a:t>
            </a:r>
            <a:endParaRPr lang="en-US" sz="950" dirty="0"/>
          </a:p>
        </p:txBody>
      </p:sp>
      <p:sp>
        <p:nvSpPr>
          <p:cNvPr id="13" name="KPI tile">
            <a:extLst>
              <a:ext uri="{FF2B5EF4-FFF2-40B4-BE49-F238E27FC236}">
                <a16:creationId xmlns:a16="http://schemas.microsoft.com/office/drawing/2014/main" id="{201B6391-6F0F-4200-1563-63DDE2C32701}"/>
              </a:ext>
            </a:extLst>
          </p:cNvPr>
          <p:cNvSpPr txBox="1"/>
          <p:nvPr/>
        </p:nvSpPr>
        <p:spPr>
          <a:xfrm>
            <a:off x="9105900" y="3971798"/>
            <a:ext cx="2552700" cy="1193800"/>
          </a:xfrm>
          <a:prstGeom prst="roundRect">
            <a:avLst>
              <a:gd name="adj" fmla="val 11489"/>
            </a:avLst>
          </a:prstGeom>
          <a:solidFill>
            <a:schemeClr val="bg1"/>
          </a:solidFill>
          <a:ln w="9525">
            <a:solidFill>
              <a:schemeClr val="accent2">
                <a:alpha val="28000"/>
              </a:schemeClr>
            </a:solidFill>
          </a:ln>
          <a:effectLst>
            <a:outerShdw blurRad="101600" dist="25400" dir="5400000" algn="bl" rotWithShape="0">
              <a:srgbClr val="0284C7">
                <a:alpha val="10000"/>
              </a:srgbClr>
            </a:outerShdw>
          </a:effectLst>
        </p:spPr>
        <p:txBody>
          <a:bodyPr wrap="square" lIns="177800" tIns="50800" rIns="177800" bIns="50800" rtlCol="0" anchor="ctr"/>
          <a:lstStyle/>
          <a:p>
            <a:pPr marL="0" indent="0" algn="l">
              <a:buNone/>
            </a:pPr>
            <a:r>
              <a:rPr lang="en-US" sz="950" dirty="0">
                <a:solidFill>
                  <a:schemeClr val="tx2"/>
                </a:solidFill>
              </a:rPr>
              <a:t>Change</a:t>
            </a:r>
            <a:endParaRPr lang="en-US" sz="950" dirty="0"/>
          </a:p>
          <a:p>
            <a:pPr marL="0" indent="0" algn="l">
              <a:buNone/>
            </a:pPr>
            <a:r>
              <a:rPr lang="en-US" sz="2400" b="1" dirty="0">
                <a:solidFill>
                  <a:schemeClr val="tx1"/>
                </a:solidFill>
              </a:rPr>
              <a:t>−4.8 pp</a:t>
            </a:r>
            <a:endParaRPr lang="en-US" sz="950" dirty="0"/>
          </a:p>
          <a:p>
            <a:pPr marL="0" indent="0" algn="l">
              <a:buNone/>
            </a:pPr>
            <a:r>
              <a:rPr lang="en-US" sz="850" dirty="0">
                <a:solidFill>
                  <a:schemeClr val="tx2"/>
                </a:solidFill>
              </a:rPr>
              <a:t>after vs before</a:t>
            </a:r>
            <a:endParaRPr lang="en-US" sz="950" dirty="0"/>
          </a:p>
        </p:txBody>
      </p:sp>
      <p:sp>
        <p:nvSpPr>
          <p:cNvPr id="14" name="Explanation">
            <a:extLst>
              <a:ext uri="{FF2B5EF4-FFF2-40B4-BE49-F238E27FC236}">
                <a16:creationId xmlns:a16="http://schemas.microsoft.com/office/drawing/2014/main" id="{178760FA-972E-AFDE-FDA9-4B7B36B9EF7C}"/>
              </a:ext>
            </a:extLst>
          </p:cNvPr>
          <p:cNvSpPr txBox="1"/>
          <p:nvPr/>
        </p:nvSpPr>
        <p:spPr>
          <a:xfrm>
            <a:off x="533400" y="5440680"/>
            <a:ext cx="11125200" cy="996695"/>
          </a:xfrm>
          <a:prstGeom prst="roundRect">
            <a:avLst>
              <a:gd name="adj" fmla="val 18750"/>
            </a:avLst>
          </a:prstGeom>
          <a:solidFill>
            <a:schemeClr val="bg1"/>
          </a:solidFill>
          <a:ln w="9525">
            <a:solidFill>
              <a:schemeClr val="accent2">
                <a:alpha val="28000"/>
              </a:schemeClr>
            </a:solidFill>
          </a:ln>
        </p:spPr>
        <p:txBody>
          <a:bodyPr wrap="square" lIns="203200" tIns="76200" rIns="203200" bIns="76200" rtlCol="0" anchor="ctr"/>
          <a:lstStyle/>
          <a:p>
            <a:pPr marL="0" indent="0" algn="l">
              <a:lnSpc>
                <a:spcPct val="100000"/>
              </a:lnSpc>
              <a:spcBef>
                <a:spcPts val="0"/>
              </a:spcBef>
              <a:buNone/>
            </a:pPr>
            <a:r>
              <a:rPr lang="en-US" sz="1200" dirty="0">
                <a:solidFill>
                  <a:schemeClr val="tx1"/>
                </a:solidFill>
              </a:rPr>
              <a:t>Every day after July 28 stayed below the old average of 92.1% (the best day reached 91.4%). The drop starts on the same day as app release v3.9.6.</a:t>
            </a:r>
          </a:p>
        </p:txBody>
      </p:sp>
      <p:sp>
        <p:nvSpPr>
          <p:cNvPr id="25" name="Slide Number Placeholder 0">
            <a:extLst>
              <a:ext uri="{FF2B5EF4-FFF2-40B4-BE49-F238E27FC236}">
                <a16:creationId xmlns:a16="http://schemas.microsoft.com/office/drawing/2014/main" id="{01D6A3FE-0627-D68E-81BE-E39F486344CA}"/>
              </a:ext>
            </a:extLst>
          </p:cNvPr>
          <p:cNvSpPr>
            <a:spLocks noGrp="1"/>
          </p:cNvSpPr>
          <p:nvPr>
            <p:ph type="sldNum" sz="quarter" idx="4294967295"/>
          </p:nvPr>
        </p:nvSpPr>
        <p:spPr>
          <a:xfrm>
            <a:off x="11109960" y="6528816"/>
            <a:ext cx="5486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chemeClr val="accent6"/>
                </a:solidFill>
              </a:defRPr>
            </a:lvl1pPr>
          </a:lstStyle>
          <a:p>
            <a:pPr algn="r"/>
            <a:fld id="{F7021451-1387-4CA6-816F-3879F97B5CBC}" type="slidenum">
              <a:rPr lang="en-US" b="0"/>
              <a:t>2</a:t>
            </a:fld>
            <a:endParaRPr lang="en-US"/>
          </a:p>
        </p:txBody>
      </p:sp>
      <p:pic>
        <p:nvPicPr>
          <p:cNvPr id="31" name="Picture 30">
            <a:extLst>
              <a:ext uri="{FF2B5EF4-FFF2-40B4-BE49-F238E27FC236}">
                <a16:creationId xmlns:a16="http://schemas.microsoft.com/office/drawing/2014/main" id="{AACC4B17-4BED-340B-6B01-E504E67E12C9}"/>
              </a:ext>
            </a:extLst>
          </p:cNvPr>
          <p:cNvPicPr>
            <a:picLocks noChangeAspect="1"/>
          </p:cNvPicPr>
          <p:nvPr/>
        </p:nvPicPr>
        <p:blipFill>
          <a:blip r:embed="rId3"/>
          <a:stretch>
            <a:fillRect/>
          </a:stretch>
        </p:blipFill>
        <p:spPr>
          <a:xfrm>
            <a:off x="631719" y="1956023"/>
            <a:ext cx="8172510" cy="2857521"/>
          </a:xfrm>
          <a:prstGeom prst="rect">
            <a:avLst/>
          </a:prstGeom>
        </p:spPr>
      </p:pic>
      <p:cxnSp>
        <p:nvCxnSpPr>
          <p:cNvPr id="26" name="Straight Connector 25">
            <a:extLst>
              <a:ext uri="{FF2B5EF4-FFF2-40B4-BE49-F238E27FC236}">
                <a16:creationId xmlns:a16="http://schemas.microsoft.com/office/drawing/2014/main" id="{A209768B-68BF-6DB9-3CA3-AAED1300920A}"/>
              </a:ext>
            </a:extLst>
          </p:cNvPr>
          <p:cNvCxnSpPr>
            <a:cxnSpLocks/>
          </p:cNvCxnSpPr>
          <p:nvPr/>
        </p:nvCxnSpPr>
        <p:spPr>
          <a:xfrm>
            <a:off x="4305936" y="2467436"/>
            <a:ext cx="0" cy="183469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Release label v3.9.6 · Jul 28">
            <a:extLst>
              <a:ext uri="{FF2B5EF4-FFF2-40B4-BE49-F238E27FC236}">
                <a16:creationId xmlns:a16="http://schemas.microsoft.com/office/drawing/2014/main" id="{3BCD3A7C-C945-0E7C-CB78-8FE46B197D85}"/>
              </a:ext>
            </a:extLst>
          </p:cNvPr>
          <p:cNvSpPr txBox="1"/>
          <p:nvPr/>
        </p:nvSpPr>
        <p:spPr>
          <a:xfrm>
            <a:off x="4358640" y="2293636"/>
            <a:ext cx="1737360" cy="182880"/>
          </a:xfrm>
          <a:prstGeom prst="rect">
            <a:avLst/>
          </a:prstGeom>
          <a:noFill/>
          <a:ln/>
        </p:spPr>
        <p:txBody>
          <a:bodyPr wrap="square" lIns="0" tIns="0" rIns="0" bIns="0" rtlCol="0" anchor="b"/>
          <a:lstStyle/>
          <a:p>
            <a:pPr marL="0" indent="0">
              <a:buNone/>
            </a:pPr>
            <a:r>
              <a:rPr lang="en-US" sz="1050" b="1" dirty="0">
                <a:solidFill>
                  <a:schemeClr val="tx2"/>
                </a:solidFill>
              </a:rPr>
              <a:t>v3.9.6 · Jul 28</a:t>
            </a:r>
            <a:endParaRPr lang="en-US" sz="1050" dirty="0"/>
          </a:p>
        </p:txBody>
      </p:sp>
    </p:spTree>
    <p:extLst>
      <p:ext uri="{BB962C8B-B14F-4D97-AF65-F5344CB8AC3E}">
        <p14:creationId xmlns:p14="http://schemas.microsoft.com/office/powerpoint/2010/main" val="2849395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4CE0E-B530-FB4C-A0BE-86BDCED249DA}"/>
            </a:ext>
          </a:extLst>
        </p:cNvPr>
        <p:cNvGrpSpPr/>
        <p:nvPr/>
      </p:nvGrpSpPr>
      <p:grpSpPr>
        <a:xfrm>
          <a:off x="0" y="0"/>
          <a:ext cx="0" cy="0"/>
          <a:chOff x="0" y="0"/>
          <a:chExt cx="0" cy="0"/>
        </a:xfrm>
      </p:grpSpPr>
      <p:sp>
        <p:nvSpPr>
          <p:cNvPr id="2" name="Section tag">
            <a:extLst>
              <a:ext uri="{FF2B5EF4-FFF2-40B4-BE49-F238E27FC236}">
                <a16:creationId xmlns:a16="http://schemas.microsoft.com/office/drawing/2014/main" id="{D82CB68D-6DEC-3811-5AF4-2D37F5730790}"/>
              </a:ext>
            </a:extLst>
          </p:cNvPr>
          <p:cNvSpPr txBox="1"/>
          <p:nvPr/>
        </p:nvSpPr>
        <p:spPr>
          <a:xfrm>
            <a:off x="533400" y="361950"/>
            <a:ext cx="940003"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OVERVIEW</a:t>
            </a:r>
            <a:endParaRPr lang="en-US" sz="800" dirty="0"/>
          </a:p>
        </p:txBody>
      </p:sp>
      <p:sp>
        <p:nvSpPr>
          <p:cNvPr id="3" name="Text 0">
            <a:extLst>
              <a:ext uri="{FF2B5EF4-FFF2-40B4-BE49-F238E27FC236}">
                <a16:creationId xmlns:a16="http://schemas.microsoft.com/office/drawing/2014/main" id="{890DBD17-01B8-174E-E1C7-2A8E0B013DD1}"/>
              </a:ext>
            </a:extLst>
          </p:cNvPr>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pPr marL="0" indent="0" algn="l">
              <a:buNone/>
            </a:pPr>
            <a:r>
              <a:rPr lang="en-US" sz="2000" b="1" dirty="0">
                <a:solidFill>
                  <a:schemeClr val="tx1"/>
                </a:solidFill>
              </a:rPr>
              <a:t>Payments drove the drop, and Billing fell the most</a:t>
            </a:r>
            <a:endParaRPr lang="en-US" sz="2000" dirty="0"/>
          </a:p>
        </p:txBody>
      </p:sp>
      <p:sp>
        <p:nvSpPr>
          <p:cNvPr id="4" name="Chart card left">
            <a:extLst>
              <a:ext uri="{FF2B5EF4-FFF2-40B4-BE49-F238E27FC236}">
                <a16:creationId xmlns:a16="http://schemas.microsoft.com/office/drawing/2014/main" id="{65802440-7459-402D-2CA0-14E63FF40558}"/>
              </a:ext>
            </a:extLst>
          </p:cNvPr>
          <p:cNvSpPr/>
          <p:nvPr/>
        </p:nvSpPr>
        <p:spPr>
          <a:xfrm>
            <a:off x="533400" y="1295128"/>
            <a:ext cx="546735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8" name="Chart card right">
            <a:extLst>
              <a:ext uri="{FF2B5EF4-FFF2-40B4-BE49-F238E27FC236}">
                <a16:creationId xmlns:a16="http://schemas.microsoft.com/office/drawing/2014/main" id="{3823A0A6-3D5D-AA58-7D41-DD00230A8D4D}"/>
              </a:ext>
            </a:extLst>
          </p:cNvPr>
          <p:cNvSpPr/>
          <p:nvPr/>
        </p:nvSpPr>
        <p:spPr>
          <a:xfrm>
            <a:off x="6191250" y="1295128"/>
            <a:ext cx="546735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12" name="Explanation">
            <a:extLst>
              <a:ext uri="{FF2B5EF4-FFF2-40B4-BE49-F238E27FC236}">
                <a16:creationId xmlns:a16="http://schemas.microsoft.com/office/drawing/2014/main" id="{3F118780-A0DD-B0A1-42FC-640716C9F4FB}"/>
              </a:ext>
            </a:extLst>
          </p:cNvPr>
          <p:cNvSpPr txBox="1"/>
          <p:nvPr/>
        </p:nvSpPr>
        <p:spPr>
          <a:xfrm>
            <a:off x="533400" y="5440680"/>
            <a:ext cx="11125200" cy="996695"/>
          </a:xfrm>
          <a:prstGeom prst="roundRect">
            <a:avLst>
              <a:gd name="adj" fmla="val 18750"/>
            </a:avLst>
          </a:prstGeom>
          <a:solidFill>
            <a:schemeClr val="bg1"/>
          </a:solidFill>
          <a:ln w="9525">
            <a:solidFill>
              <a:schemeClr val="accent2">
                <a:alpha val="28000"/>
              </a:schemeClr>
            </a:solidFill>
          </a:ln>
        </p:spPr>
        <p:txBody>
          <a:bodyPr wrap="square" lIns="203200" tIns="76200" rIns="203200" bIns="76200" rtlCol="0" anchor="ctr"/>
          <a:lstStyle/>
          <a:p>
            <a:pPr marL="0" indent="0" algn="l">
              <a:lnSpc>
                <a:spcPct val="100000"/>
              </a:lnSpc>
              <a:spcBef>
                <a:spcPts val="0"/>
              </a:spcBef>
              <a:buNone/>
            </a:pPr>
            <a:r>
              <a:rPr lang="en-US" sz="1200" dirty="0">
                <a:solidFill>
                  <a:schemeClr val="tx1"/>
                </a:solidFill>
              </a:rPr>
              <a:t>Billing is 20.5% of transactions after Jul 28 but 43.9% of all failed transactions (it was 16.9% before). The rest of this report focuses on Billing.</a:t>
            </a:r>
          </a:p>
        </p:txBody>
      </p:sp>
      <p:sp>
        <p:nvSpPr>
          <p:cNvPr id="25" name="Slide Number Placeholder 0">
            <a:extLst>
              <a:ext uri="{FF2B5EF4-FFF2-40B4-BE49-F238E27FC236}">
                <a16:creationId xmlns:a16="http://schemas.microsoft.com/office/drawing/2014/main" id="{BA8AF5D2-5C72-3507-11E7-D28631D8F9A5}"/>
              </a:ext>
            </a:extLst>
          </p:cNvPr>
          <p:cNvSpPr>
            <a:spLocks noGrp="1"/>
          </p:cNvSpPr>
          <p:nvPr>
            <p:ph type="sldNum" sz="quarter" idx="4294967295"/>
          </p:nvPr>
        </p:nvSpPr>
        <p:spPr>
          <a:xfrm>
            <a:off x="11109960" y="6528816"/>
            <a:ext cx="5486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chemeClr val="accent6"/>
                </a:solidFill>
              </a:defRPr>
            </a:lvl1pPr>
          </a:lstStyle>
          <a:p>
            <a:pPr algn="r"/>
            <a:fld id="{F7021451-1387-4CA6-816F-3879F97B5CBC}" type="slidenum">
              <a:rPr lang="en-US" b="0"/>
              <a:t>3</a:t>
            </a:fld>
            <a:endParaRPr lang="en-US"/>
          </a:p>
        </p:txBody>
      </p:sp>
      <p:pic>
        <p:nvPicPr>
          <p:cNvPr id="18" name="Picture 17">
            <a:extLst>
              <a:ext uri="{FF2B5EF4-FFF2-40B4-BE49-F238E27FC236}">
                <a16:creationId xmlns:a16="http://schemas.microsoft.com/office/drawing/2014/main" id="{0578626E-FE75-813F-905F-404F17A55176}"/>
              </a:ext>
            </a:extLst>
          </p:cNvPr>
          <p:cNvPicPr>
            <a:picLocks noChangeAspect="1"/>
          </p:cNvPicPr>
          <p:nvPr/>
        </p:nvPicPr>
        <p:blipFill>
          <a:blip r:embed="rId3"/>
          <a:stretch>
            <a:fillRect/>
          </a:stretch>
        </p:blipFill>
        <p:spPr>
          <a:xfrm>
            <a:off x="594649" y="1458958"/>
            <a:ext cx="5344853" cy="3520440"/>
          </a:xfrm>
          <a:prstGeom prst="rect">
            <a:avLst/>
          </a:prstGeom>
        </p:spPr>
      </p:pic>
      <p:pic>
        <p:nvPicPr>
          <p:cNvPr id="27" name="Picture 26">
            <a:extLst>
              <a:ext uri="{FF2B5EF4-FFF2-40B4-BE49-F238E27FC236}">
                <a16:creationId xmlns:a16="http://schemas.microsoft.com/office/drawing/2014/main" id="{7C9BACE1-26DE-8F3F-957F-A0525D48D4A3}"/>
              </a:ext>
            </a:extLst>
          </p:cNvPr>
          <p:cNvPicPr>
            <a:picLocks noChangeAspect="1"/>
          </p:cNvPicPr>
          <p:nvPr/>
        </p:nvPicPr>
        <p:blipFill>
          <a:blip r:embed="rId4"/>
          <a:stretch>
            <a:fillRect/>
          </a:stretch>
        </p:blipFill>
        <p:spPr>
          <a:xfrm>
            <a:off x="6459277" y="1485900"/>
            <a:ext cx="4931297" cy="3466556"/>
          </a:xfrm>
          <a:prstGeom prst="rect">
            <a:avLst/>
          </a:prstGeom>
        </p:spPr>
      </p:pic>
    </p:spTree>
    <p:extLst>
      <p:ext uri="{BB962C8B-B14F-4D97-AF65-F5344CB8AC3E}">
        <p14:creationId xmlns:p14="http://schemas.microsoft.com/office/powerpoint/2010/main" val="4233208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txBox="1"/>
          <p:nvPr/>
        </p:nvSpPr>
        <p:spPr>
          <a:xfrm>
            <a:off x="533400" y="361950"/>
            <a:ext cx="1247241"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INSIGHT</a:t>
            </a:r>
            <a:endParaRPr lang="en-US" sz="800" dirty="0"/>
          </a:p>
        </p:txBody>
      </p:sp>
      <p:sp>
        <p:nvSpPr>
          <p:cNvPr id="3" name="Text 0"/>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pPr marL="0" indent="0" algn="l">
              <a:buNone/>
            </a:pPr>
            <a:r>
              <a:rPr lang="en-US" sz="2000" b="1" dirty="0">
                <a:solidFill>
                  <a:schemeClr val="tx1"/>
                </a:solidFill>
              </a:rPr>
              <a:t>Billing success rate broke on July 28 and never came back</a:t>
            </a:r>
            <a:endParaRPr lang="en-US" sz="2000" dirty="0"/>
          </a:p>
        </p:txBody>
      </p:sp>
      <p:sp>
        <p:nvSpPr>
          <p:cNvPr id="4" name="Chart card"/>
          <p:cNvSpPr/>
          <p:nvPr/>
        </p:nvSpPr>
        <p:spPr>
          <a:xfrm>
            <a:off x="533400" y="1299886"/>
            <a:ext cx="1112520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19" name="Explanation"/>
          <p:cNvSpPr txBox="1"/>
          <p:nvPr/>
        </p:nvSpPr>
        <p:spPr>
          <a:xfrm>
            <a:off x="533400" y="5440680"/>
            <a:ext cx="11125200" cy="996695"/>
          </a:xfrm>
          <a:prstGeom prst="roundRect">
            <a:avLst>
              <a:gd name="adj" fmla="val 18750"/>
            </a:avLst>
          </a:prstGeom>
          <a:solidFill>
            <a:schemeClr val="bg1"/>
          </a:solidFill>
          <a:ln w="9525">
            <a:solidFill>
              <a:schemeClr val="accent2">
                <a:alpha val="28000"/>
              </a:schemeClr>
            </a:solidFill>
          </a:ln>
        </p:spPr>
        <p:txBody>
          <a:bodyPr wrap="square" lIns="203200" tIns="76200" rIns="203200" bIns="76200" rtlCol="0" anchor="ctr"/>
          <a:lstStyle/>
          <a:p>
            <a:pPr marL="0" indent="0" algn="l">
              <a:lnSpc>
                <a:spcPct val="100000"/>
              </a:lnSpc>
              <a:spcBef>
                <a:spcPts val="0"/>
              </a:spcBef>
              <a:buNone/>
            </a:pPr>
            <a:r>
              <a:rPr lang="en-US" sz="1200" dirty="0">
                <a:solidFill>
                  <a:schemeClr val="tx1"/>
                </a:solidFill>
              </a:rPr>
              <a:t>Average fell from 89.9% to 72.7%. The best day after Jul 28 (82.2%) was lower than the worst day before (82.5%), and three fix releases did not change that.</a:t>
            </a:r>
          </a:p>
        </p:txBody>
      </p:sp>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4</a:t>
            </a:fld>
            <a:endParaRPr lang="en-US"/>
          </a:p>
        </p:txBody>
      </p:sp>
      <p:grpSp>
        <p:nvGrpSpPr>
          <p:cNvPr id="35" name="Group 34">
            <a:extLst>
              <a:ext uri="{FF2B5EF4-FFF2-40B4-BE49-F238E27FC236}">
                <a16:creationId xmlns:a16="http://schemas.microsoft.com/office/drawing/2014/main" id="{4FEEC3C6-ECFA-2260-D659-8CF0E75C4078}"/>
              </a:ext>
            </a:extLst>
          </p:cNvPr>
          <p:cNvGrpSpPr/>
          <p:nvPr/>
        </p:nvGrpSpPr>
        <p:grpSpPr>
          <a:xfrm>
            <a:off x="896439" y="1485901"/>
            <a:ext cx="10399123" cy="3476071"/>
            <a:chOff x="1402578" y="1919061"/>
            <a:chExt cx="8162985" cy="2847996"/>
          </a:xfrm>
        </p:grpSpPr>
        <p:pic>
          <p:nvPicPr>
            <p:cNvPr id="23" name="Picture 22">
              <a:extLst>
                <a:ext uri="{FF2B5EF4-FFF2-40B4-BE49-F238E27FC236}">
                  <a16:creationId xmlns:a16="http://schemas.microsoft.com/office/drawing/2014/main" id="{6BBF61A6-B86F-2D37-010B-21B51A0D1531}"/>
                </a:ext>
              </a:extLst>
            </p:cNvPr>
            <p:cNvPicPr>
              <a:picLocks noChangeAspect="1"/>
            </p:cNvPicPr>
            <p:nvPr/>
          </p:nvPicPr>
          <p:blipFill>
            <a:blip r:embed="rId3"/>
            <a:stretch>
              <a:fillRect/>
            </a:stretch>
          </p:blipFill>
          <p:spPr>
            <a:xfrm>
              <a:off x="1402578" y="1919061"/>
              <a:ext cx="8162985" cy="2847996"/>
            </a:xfrm>
            <a:prstGeom prst="rect">
              <a:avLst/>
            </a:prstGeom>
          </p:spPr>
        </p:pic>
        <p:cxnSp>
          <p:nvCxnSpPr>
            <p:cNvPr id="24" name="Straight Connector 23">
              <a:extLst>
                <a:ext uri="{FF2B5EF4-FFF2-40B4-BE49-F238E27FC236}">
                  <a16:creationId xmlns:a16="http://schemas.microsoft.com/office/drawing/2014/main" id="{A8A0417A-D4ED-A026-A3DE-B0C63BF0A7C2}"/>
                </a:ext>
              </a:extLst>
            </p:cNvPr>
            <p:cNvCxnSpPr>
              <a:cxnSpLocks/>
            </p:cNvCxnSpPr>
            <p:nvPr/>
          </p:nvCxnSpPr>
          <p:spPr>
            <a:xfrm>
              <a:off x="5147486" y="2546865"/>
              <a:ext cx="0" cy="183469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A111912-BEFC-6C78-FF37-2D381F82C4C0}"/>
                </a:ext>
              </a:extLst>
            </p:cNvPr>
            <p:cNvCxnSpPr>
              <a:cxnSpLocks/>
            </p:cNvCxnSpPr>
            <p:nvPr/>
          </p:nvCxnSpPr>
          <p:spPr>
            <a:xfrm>
              <a:off x="6122846" y="2581155"/>
              <a:ext cx="0" cy="183469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50F0983-AA78-E501-8915-0F750F1481C8}"/>
                </a:ext>
              </a:extLst>
            </p:cNvPr>
            <p:cNvCxnSpPr>
              <a:cxnSpLocks/>
            </p:cNvCxnSpPr>
            <p:nvPr/>
          </p:nvCxnSpPr>
          <p:spPr>
            <a:xfrm>
              <a:off x="7319186" y="2502905"/>
              <a:ext cx="0" cy="183469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8963A6C-F295-7C73-5491-7F7CA67AC674}"/>
                </a:ext>
              </a:extLst>
            </p:cNvPr>
            <p:cNvCxnSpPr>
              <a:cxnSpLocks/>
            </p:cNvCxnSpPr>
            <p:nvPr/>
          </p:nvCxnSpPr>
          <p:spPr>
            <a:xfrm>
              <a:off x="8119286" y="2547300"/>
              <a:ext cx="0" cy="183469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 name="Release label v3.9.7 · API v3.0"/>
          <p:cNvSpPr txBox="1"/>
          <p:nvPr/>
        </p:nvSpPr>
        <p:spPr>
          <a:xfrm>
            <a:off x="6519102" y="1720778"/>
            <a:ext cx="1737360" cy="182880"/>
          </a:xfrm>
          <a:prstGeom prst="rect">
            <a:avLst/>
          </a:prstGeom>
          <a:noFill/>
          <a:ln/>
        </p:spPr>
        <p:txBody>
          <a:bodyPr wrap="square" lIns="0" tIns="0" rIns="0" bIns="0" rtlCol="0" anchor="b"/>
          <a:lstStyle/>
          <a:p>
            <a:pPr marL="0" indent="0">
              <a:buNone/>
            </a:pPr>
            <a:r>
              <a:rPr lang="en-US" sz="1000" b="1" dirty="0">
                <a:solidFill>
                  <a:schemeClr val="tx2"/>
                </a:solidFill>
              </a:rPr>
              <a:t>v3.9.7 · API v3.0</a:t>
            </a:r>
            <a:endParaRPr lang="en-US" sz="1000" dirty="0"/>
          </a:p>
        </p:txBody>
      </p:sp>
      <p:sp>
        <p:nvSpPr>
          <p:cNvPr id="14" name="Release label v3.9.8"/>
          <p:cNvSpPr txBox="1"/>
          <p:nvPr/>
        </p:nvSpPr>
        <p:spPr>
          <a:xfrm>
            <a:off x="8256462" y="1781223"/>
            <a:ext cx="785905" cy="182880"/>
          </a:xfrm>
          <a:prstGeom prst="rect">
            <a:avLst/>
          </a:prstGeom>
          <a:noFill/>
          <a:ln/>
        </p:spPr>
        <p:txBody>
          <a:bodyPr wrap="square" lIns="0" tIns="0" rIns="0" bIns="0" rtlCol="0" anchor="b"/>
          <a:lstStyle/>
          <a:p>
            <a:pPr marL="0" indent="0">
              <a:buNone/>
            </a:pPr>
            <a:r>
              <a:rPr lang="en-US" sz="1000" b="1" dirty="0">
                <a:solidFill>
                  <a:schemeClr val="tx2"/>
                </a:solidFill>
              </a:rPr>
              <a:t>v3.9.8</a:t>
            </a:r>
            <a:endParaRPr lang="en-US" sz="1000" dirty="0"/>
          </a:p>
        </p:txBody>
      </p:sp>
      <p:sp>
        <p:nvSpPr>
          <p:cNvPr id="16" name="Release label v3.9.9 · emergency fix"/>
          <p:cNvSpPr txBox="1"/>
          <p:nvPr/>
        </p:nvSpPr>
        <p:spPr>
          <a:xfrm>
            <a:off x="9189506" y="1760569"/>
            <a:ext cx="1737360" cy="182880"/>
          </a:xfrm>
          <a:prstGeom prst="rect">
            <a:avLst/>
          </a:prstGeom>
          <a:noFill/>
          <a:ln/>
        </p:spPr>
        <p:txBody>
          <a:bodyPr wrap="square" lIns="0" tIns="0" rIns="0" bIns="0" rtlCol="0" anchor="b"/>
          <a:lstStyle/>
          <a:p>
            <a:pPr marL="0" indent="0">
              <a:buNone/>
            </a:pPr>
            <a:r>
              <a:rPr lang="en-US" sz="1000" b="1" dirty="0">
                <a:solidFill>
                  <a:schemeClr val="tx2"/>
                </a:solidFill>
              </a:rPr>
              <a:t>v3.9.9 · emergency fix</a:t>
            </a:r>
            <a:endParaRPr lang="en-US" sz="1000" dirty="0"/>
          </a:p>
        </p:txBody>
      </p:sp>
      <p:sp>
        <p:nvSpPr>
          <p:cNvPr id="36" name="Release label v3.9.6">
            <a:extLst>
              <a:ext uri="{FF2B5EF4-FFF2-40B4-BE49-F238E27FC236}">
                <a16:creationId xmlns:a16="http://schemas.microsoft.com/office/drawing/2014/main" id="{58CC42F5-B75E-9A53-05EF-9ED04389F99C}"/>
              </a:ext>
            </a:extLst>
          </p:cNvPr>
          <p:cNvSpPr txBox="1"/>
          <p:nvPr/>
        </p:nvSpPr>
        <p:spPr>
          <a:xfrm>
            <a:off x="5446587" y="1788842"/>
            <a:ext cx="785905" cy="182880"/>
          </a:xfrm>
          <a:prstGeom prst="rect">
            <a:avLst/>
          </a:prstGeom>
          <a:noFill/>
          <a:ln/>
        </p:spPr>
        <p:txBody>
          <a:bodyPr wrap="square" lIns="0" tIns="0" rIns="0" bIns="0" rtlCol="0" anchor="b"/>
          <a:lstStyle/>
          <a:p>
            <a:pPr marL="0" indent="0">
              <a:buNone/>
            </a:pPr>
            <a:r>
              <a:rPr lang="en-US" sz="1000" b="1" dirty="0">
                <a:solidFill>
                  <a:schemeClr val="tx2"/>
                </a:solidFill>
              </a:rPr>
              <a:t>v3.9.6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pPr marL="0" indent="0" algn="l">
              <a:buNone/>
            </a:pPr>
            <a:r>
              <a:rPr lang="en-US" sz="2000" b="1" dirty="0">
                <a:solidFill>
                  <a:schemeClr val="tx1"/>
                </a:solidFill>
              </a:rPr>
              <a:t>Every bill type and every user group fell by about the same amount</a:t>
            </a:r>
            <a:endParaRPr lang="en-US" sz="2000" dirty="0"/>
          </a:p>
        </p:txBody>
      </p:sp>
      <p:sp>
        <p:nvSpPr>
          <p:cNvPr id="4" name="Chart card left"/>
          <p:cNvSpPr/>
          <p:nvPr/>
        </p:nvSpPr>
        <p:spPr>
          <a:xfrm>
            <a:off x="533400" y="1238758"/>
            <a:ext cx="546735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8" name="Table card"/>
          <p:cNvSpPr/>
          <p:nvPr/>
        </p:nvSpPr>
        <p:spPr>
          <a:xfrm>
            <a:off x="6191250" y="1264285"/>
            <a:ext cx="546735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9" name="Chart title"/>
          <p:cNvSpPr txBox="1"/>
          <p:nvPr/>
        </p:nvSpPr>
        <p:spPr>
          <a:xfrm>
            <a:off x="6364986" y="1457859"/>
            <a:ext cx="5119878" cy="256032"/>
          </a:xfrm>
          <a:prstGeom prst="rect">
            <a:avLst/>
          </a:prstGeom>
          <a:noFill/>
          <a:ln/>
        </p:spPr>
        <p:txBody>
          <a:bodyPr wrap="square" lIns="0" tIns="0" rIns="0" bIns="0" rtlCol="0" anchor="t"/>
          <a:lstStyle/>
          <a:p>
            <a:pPr marL="0" indent="0">
              <a:buNone/>
            </a:pPr>
            <a:r>
              <a:rPr lang="en-US" sz="1050" b="1" dirty="0">
                <a:solidFill>
                  <a:schemeClr val="tx1"/>
                </a:solidFill>
              </a:rPr>
              <a:t>Change by user and payment group</a:t>
            </a:r>
            <a:endParaRPr lang="en-US" sz="1050" dirty="0"/>
          </a:p>
        </p:txBody>
      </p:sp>
      <p:sp>
        <p:nvSpPr>
          <p:cNvPr id="12" name="Explanation"/>
          <p:cNvSpPr txBox="1"/>
          <p:nvPr/>
        </p:nvSpPr>
        <p:spPr>
          <a:xfrm>
            <a:off x="533400" y="5440680"/>
            <a:ext cx="11125200" cy="996695"/>
          </a:xfrm>
          <a:prstGeom prst="roundRect">
            <a:avLst>
              <a:gd name="adj" fmla="val 18750"/>
            </a:avLst>
          </a:prstGeom>
          <a:solidFill>
            <a:schemeClr val="bg1"/>
          </a:solidFill>
          <a:ln w="9525">
            <a:solidFill>
              <a:schemeClr val="accent2">
                <a:alpha val="28000"/>
              </a:schemeClr>
            </a:solidFill>
          </a:ln>
        </p:spPr>
        <p:txBody>
          <a:bodyPr wrap="square" lIns="203200" tIns="76200" rIns="203200" bIns="76200" rtlCol="0" anchor="ctr"/>
          <a:lstStyle/>
          <a:p>
            <a:pPr marL="0" indent="0" algn="l">
              <a:lnSpc>
                <a:spcPct val="100000"/>
              </a:lnSpc>
              <a:spcBef>
                <a:spcPts val="0"/>
              </a:spcBef>
              <a:buNone/>
            </a:pPr>
            <a:r>
              <a:rPr lang="en-US" sz="1200" dirty="0">
                <a:solidFill>
                  <a:schemeClr val="tx1"/>
                </a:solidFill>
              </a:rPr>
              <a:t>All groups ended at about 71–74% (local cards 69%, only 29 payments), so the cause is not one biller, bank, device or user type. Every bill payment goes through it.</a:t>
            </a:r>
          </a:p>
        </p:txBody>
      </p:sp>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5</a:t>
            </a:fld>
            <a:endParaRPr lang="en-US"/>
          </a:p>
        </p:txBody>
      </p:sp>
      <p:pic>
        <p:nvPicPr>
          <p:cNvPr id="14" name="Picture 13">
            <a:extLst>
              <a:ext uri="{FF2B5EF4-FFF2-40B4-BE49-F238E27FC236}">
                <a16:creationId xmlns:a16="http://schemas.microsoft.com/office/drawing/2014/main" id="{88079CB9-0DCE-04C9-DCED-F92B63F0412A}"/>
              </a:ext>
            </a:extLst>
          </p:cNvPr>
          <p:cNvPicPr>
            <a:picLocks noChangeAspect="1"/>
          </p:cNvPicPr>
          <p:nvPr/>
        </p:nvPicPr>
        <p:blipFill>
          <a:blip r:embed="rId3"/>
          <a:stretch>
            <a:fillRect/>
          </a:stretch>
        </p:blipFill>
        <p:spPr>
          <a:xfrm>
            <a:off x="885635" y="1254179"/>
            <a:ext cx="4762881" cy="3817258"/>
          </a:xfrm>
          <a:prstGeom prst="rect">
            <a:avLst/>
          </a:prstGeom>
        </p:spPr>
      </p:pic>
      <p:graphicFrame>
        <p:nvGraphicFramePr>
          <p:cNvPr id="16" name="Change by group table">
            <a:extLst>
              <a:ext uri="{FF2B5EF4-FFF2-40B4-BE49-F238E27FC236}">
                <a16:creationId xmlns:a16="http://schemas.microsoft.com/office/drawing/2014/main" id="{AF039DEC-2F42-F928-31F9-897186DD47C3}"/>
              </a:ext>
            </a:extLst>
          </p:cNvPr>
          <p:cNvGraphicFramePr>
            <a:graphicFrameLocks noGrp="1"/>
          </p:cNvGraphicFramePr>
          <p:nvPr>
            <p:extLst>
              <p:ext uri="{D42A27DB-BD31-4B8C-83A1-F6EECF244321}">
                <p14:modId xmlns:p14="http://schemas.microsoft.com/office/powerpoint/2010/main" val="1514699838"/>
              </p:ext>
            </p:extLst>
          </p:nvPr>
        </p:nvGraphicFramePr>
        <p:xfrm>
          <a:off x="6352985" y="1685300"/>
          <a:ext cx="5119878" cy="2776728"/>
        </p:xfrm>
        <a:graphic>
          <a:graphicData uri="http://schemas.openxmlformats.org/drawingml/2006/table">
            <a:tbl>
              <a:tblPr/>
              <a:tblGrid>
                <a:gridCol w="1964245">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669733">
                  <a:extLst>
                    <a:ext uri="{9D8B030D-6E8A-4147-A177-3AD203B41FA5}">
                      <a16:colId xmlns:a16="http://schemas.microsoft.com/office/drawing/2014/main" val="20002"/>
                    </a:ext>
                  </a:extLst>
                </a:gridCol>
              </a:tblGrid>
              <a:tr h="0">
                <a:tc>
                  <a:txBody>
                    <a:bodyPr/>
                    <a:lstStyle/>
                    <a:p>
                      <a:pPr marL="0" indent="0" algn="l" defTabSz="914400" rtl="0" eaLnBrk="1" latinLnBrk="0" hangingPunct="1">
                        <a:buNone/>
                      </a:pPr>
                      <a:r>
                        <a:rPr lang="en-US" sz="900" b="1" kern="1200" dirty="0">
                          <a:solidFill>
                            <a:schemeClr val="tx2"/>
                          </a:solidFill>
                          <a:latin typeface="+mn-lt"/>
                          <a:ea typeface="+mn-ea"/>
                          <a:cs typeface="+mn-cs"/>
                        </a:rPr>
                        <a:t>Group</a:t>
                      </a:r>
                    </a:p>
                  </a:txBody>
                  <a:tcPr marT="54864" marB="54864"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solidFill>
                      <a:schemeClr val="bg2"/>
                    </a:solidFill>
                  </a:tcPr>
                </a:tc>
                <a:tc>
                  <a:txBody>
                    <a:bodyPr/>
                    <a:lstStyle/>
                    <a:p>
                      <a:pPr marL="0" indent="0" algn="l" defTabSz="914400" rtl="0" eaLnBrk="1" latinLnBrk="0" hangingPunct="1">
                        <a:buNone/>
                      </a:pPr>
                      <a:r>
                        <a:rPr lang="en-US" sz="900" b="1" kern="1200" dirty="0">
                          <a:solidFill>
                            <a:schemeClr val="tx2"/>
                          </a:solidFill>
                          <a:latin typeface="+mn-lt"/>
                          <a:ea typeface="+mn-ea"/>
                          <a:cs typeface="+mn-cs"/>
                        </a:rPr>
                        <a:t>Change</a:t>
                      </a:r>
                    </a:p>
                  </a:txBody>
                  <a:tcPr marT="54864" marB="54864"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solidFill>
                      <a:schemeClr val="bg2"/>
                    </a:solidFill>
                  </a:tcPr>
                </a:tc>
                <a:tc>
                  <a:txBody>
                    <a:bodyPr/>
                    <a:lstStyle/>
                    <a:p>
                      <a:pPr marL="0" indent="0" algn="l" defTabSz="914400" rtl="0" eaLnBrk="1" latinLnBrk="0" hangingPunct="1">
                        <a:buNone/>
                      </a:pPr>
                      <a:r>
                        <a:rPr lang="en-US" sz="900" b="1" kern="1200" dirty="0">
                          <a:solidFill>
                            <a:schemeClr val="tx2"/>
                          </a:solidFill>
                          <a:latin typeface="+mn-lt"/>
                          <a:ea typeface="+mn-ea"/>
                          <a:cs typeface="+mn-cs"/>
                        </a:rPr>
                        <a:t>Rate after</a:t>
                      </a:r>
                    </a:p>
                  </a:txBody>
                  <a:tcPr marT="54864" marB="54864"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0">
                <a:tc>
                  <a:txBody>
                    <a:bodyPr/>
                    <a:lstStyle/>
                    <a:p>
                      <a:pPr marL="0" indent="0" algn="l" defTabSz="914400" rtl="0" eaLnBrk="1" latinLnBrk="0" hangingPunct="1">
                        <a:buNone/>
                      </a:pPr>
                      <a:r>
                        <a:rPr lang="en-US" sz="1000" kern="1200" dirty="0">
                          <a:solidFill>
                            <a:schemeClr val="tx1"/>
                          </a:solidFill>
                          <a:latin typeface="+mn-lt"/>
                          <a:ea typeface="+mn-ea"/>
                          <a:cs typeface="+mn-cs"/>
                        </a:rPr>
                        <a:t>Platform (Android, iOS, Web)</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dirty="0">
                          <a:solidFill>
                            <a:schemeClr val="tx1"/>
                          </a:solidFill>
                          <a:latin typeface="+mn-lt"/>
                          <a:ea typeface="+mn-ea"/>
                          <a:cs typeface="+mn-cs"/>
                        </a:rPr>
                        <a:t>−15.1 / −19.0 / −18.0 pp</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dirty="0">
                          <a:solidFill>
                            <a:schemeClr val="tx1"/>
                          </a:solidFill>
                          <a:latin typeface="+mn-lt"/>
                          <a:ea typeface="+mn-ea"/>
                          <a:cs typeface="+mn-cs"/>
                        </a:rPr>
                        <a:t>73.4% / 71.7% / 73.0%</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defTabSz="914400" rtl="0" eaLnBrk="1" latinLnBrk="0" hangingPunct="1">
                        <a:buNone/>
                      </a:pPr>
                      <a:r>
                        <a:rPr lang="en-US" sz="1000" kern="1200" dirty="0">
                          <a:solidFill>
                            <a:schemeClr val="tx1"/>
                          </a:solidFill>
                          <a:latin typeface="+mn-lt"/>
                          <a:ea typeface="+mn-ea"/>
                          <a:cs typeface="+mn-cs"/>
                        </a:rPr>
                        <a:t>Payment method (credit, debit, bank, local card, wallet)</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dirty="0">
                          <a:solidFill>
                            <a:schemeClr val="tx1"/>
                          </a:solidFill>
                          <a:latin typeface="+mn-lt"/>
                          <a:ea typeface="+mn-ea"/>
                          <a:cs typeface="+mn-cs"/>
                        </a:rPr>
                        <a:t>−15.3 / −20.8 / −16.4 / −19.5 / −16.8 pp</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a:solidFill>
                            <a:schemeClr val="tx1"/>
                          </a:solidFill>
                          <a:latin typeface="+mn-lt"/>
                          <a:ea typeface="+mn-ea"/>
                          <a:cs typeface="+mn-cs"/>
                        </a:rPr>
                        <a:t>74.2% / 72.3% / 72.8% / 69.0% / 71.6%</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defTabSz="914400" rtl="0" eaLnBrk="1" latinLnBrk="0" hangingPunct="1">
                        <a:buNone/>
                      </a:pPr>
                      <a:r>
                        <a:rPr lang="en-US" sz="1000" kern="1200">
                          <a:solidFill>
                            <a:schemeClr val="tx1"/>
                          </a:solidFill>
                          <a:latin typeface="+mn-lt"/>
                          <a:ea typeface="+mn-ea"/>
                          <a:cs typeface="+mn-cs"/>
                        </a:rPr>
                        <a:t>Age group (18-24, 25-34, 35-44, 45+)</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dirty="0">
                          <a:solidFill>
                            <a:schemeClr val="tx1"/>
                          </a:solidFill>
                          <a:latin typeface="+mn-lt"/>
                          <a:ea typeface="+mn-ea"/>
                          <a:cs typeface="+mn-cs"/>
                        </a:rPr>
                        <a:t>−17.6 / −17.0 / −18.0 / −15.9 pp</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a:solidFill>
                            <a:schemeClr val="tx1"/>
                          </a:solidFill>
                          <a:latin typeface="+mn-lt"/>
                          <a:ea typeface="+mn-ea"/>
                          <a:cs typeface="+mn-cs"/>
                        </a:rPr>
                        <a:t>73.7% / 72.4% / 72.2% / 72.8%</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defTabSz="914400" rtl="0" eaLnBrk="1" latinLnBrk="0" hangingPunct="1">
                        <a:buNone/>
                      </a:pPr>
                      <a:r>
                        <a:rPr lang="en-US" sz="1000" kern="1200">
                          <a:solidFill>
                            <a:schemeClr val="tx1"/>
                          </a:solidFill>
                          <a:latin typeface="+mn-lt"/>
                          <a:ea typeface="+mn-ea"/>
                          <a:cs typeface="+mn-cs"/>
                        </a:rPr>
                        <a:t>Loyalty tier (bronze, silver, gold, platinum)</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dirty="0">
                          <a:solidFill>
                            <a:schemeClr val="tx1"/>
                          </a:solidFill>
                          <a:latin typeface="+mn-lt"/>
                          <a:ea typeface="+mn-ea"/>
                          <a:cs typeface="+mn-cs"/>
                        </a:rPr>
                        <a:t>−17.7 / −15.5 / −18.3 / −19.6 pp</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a:solidFill>
                            <a:schemeClr val="tx1"/>
                          </a:solidFill>
                          <a:latin typeface="+mn-lt"/>
                          <a:ea typeface="+mn-ea"/>
                          <a:cs typeface="+mn-cs"/>
                        </a:rPr>
                        <a:t>72.6% / 72.9% / 72.5% / 73.2%</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defTabSz="914400" rtl="0" eaLnBrk="1" latinLnBrk="0" hangingPunct="1">
                        <a:buNone/>
                      </a:pPr>
                      <a:r>
                        <a:rPr lang="en-US" sz="1000" kern="1200">
                          <a:solidFill>
                            <a:schemeClr val="tx1"/>
                          </a:solidFill>
                          <a:latin typeface="+mn-lt"/>
                          <a:ea typeface="+mn-ea"/>
                          <a:cs typeface="+mn-cs"/>
                        </a:rPr>
                        <a:t>Network quality (excellent, good, fair, poor)</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a:solidFill>
                            <a:schemeClr val="tx1"/>
                          </a:solidFill>
                          <a:latin typeface="+mn-lt"/>
                          <a:ea typeface="+mn-ea"/>
                          <a:cs typeface="+mn-cs"/>
                        </a:rPr>
                        <a:t>−18.4 / −14.9 / −16.4 / −20.2 pp</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dirty="0">
                          <a:solidFill>
                            <a:schemeClr val="tx1"/>
                          </a:solidFill>
                          <a:latin typeface="+mn-lt"/>
                          <a:ea typeface="+mn-ea"/>
                          <a:cs typeface="+mn-cs"/>
                        </a:rPr>
                        <a:t>73.0% / 73.8% / 71.8% / 71.7%</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defTabSz="914400" rtl="0" eaLnBrk="1" latinLnBrk="0" hangingPunct="1">
                        <a:buNone/>
                      </a:pPr>
                      <a:r>
                        <a:rPr lang="en-US" sz="1000" kern="1200" dirty="0">
                          <a:solidFill>
                            <a:schemeClr val="tx1"/>
                          </a:solidFill>
                          <a:latin typeface="+mn-lt"/>
                          <a:ea typeface="+mn-ea"/>
                          <a:cs typeface="+mn-cs"/>
                        </a:rPr>
                        <a:t>First-time vs repeat bill payer</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a:solidFill>
                            <a:schemeClr val="tx1"/>
                          </a:solidFill>
                          <a:latin typeface="+mn-lt"/>
                          <a:ea typeface="+mn-ea"/>
                          <a:cs typeface="+mn-cs"/>
                        </a:rPr>
                        <a:t>−18.1 / −15.7 pp</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defTabSz="914400" rtl="0" eaLnBrk="1" latinLnBrk="0" hangingPunct="1">
                        <a:buNone/>
                      </a:pPr>
                      <a:r>
                        <a:rPr lang="en-US" sz="1000" kern="1200" dirty="0">
                          <a:solidFill>
                            <a:schemeClr val="tx1"/>
                          </a:solidFill>
                          <a:latin typeface="+mn-lt"/>
                          <a:ea typeface="+mn-ea"/>
                          <a:cs typeface="+mn-cs"/>
                        </a:rPr>
                        <a:t>72.8% / 72.7%</a:t>
                      </a:r>
                    </a:p>
                  </a:txBody>
                  <a:tcPr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ection tag">
            <a:extLst>
              <a:ext uri="{FF2B5EF4-FFF2-40B4-BE49-F238E27FC236}">
                <a16:creationId xmlns:a16="http://schemas.microsoft.com/office/drawing/2014/main" id="{A38C3295-E4A0-FE73-4095-4EF7FEF47A7D}"/>
              </a:ext>
            </a:extLst>
          </p:cNvPr>
          <p:cNvSpPr txBox="1"/>
          <p:nvPr/>
        </p:nvSpPr>
        <p:spPr>
          <a:xfrm>
            <a:off x="533400" y="361950"/>
            <a:ext cx="1247241"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INSIGHT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pPr marL="0" indent="0" algn="l">
              <a:buNone/>
            </a:pPr>
            <a:r>
              <a:rPr lang="en-US" sz="2000" b="1" dirty="0">
                <a:solidFill>
                  <a:schemeClr val="tx1"/>
                </a:solidFill>
              </a:rPr>
              <a:t>Users who did not update the app failed too, so the change was likely server-side</a:t>
            </a:r>
            <a:endParaRPr lang="en-US" sz="2000" dirty="0"/>
          </a:p>
        </p:txBody>
      </p:sp>
      <p:sp>
        <p:nvSpPr>
          <p:cNvPr id="4" name="Chart card left"/>
          <p:cNvSpPr/>
          <p:nvPr/>
        </p:nvSpPr>
        <p:spPr>
          <a:xfrm>
            <a:off x="2808514" y="1269986"/>
            <a:ext cx="6074833"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13" name="Explanation"/>
          <p:cNvSpPr txBox="1"/>
          <p:nvPr/>
        </p:nvSpPr>
        <p:spPr>
          <a:xfrm>
            <a:off x="533400" y="5440680"/>
            <a:ext cx="11125200" cy="996695"/>
          </a:xfrm>
          <a:prstGeom prst="roundRect">
            <a:avLst>
              <a:gd name="adj" fmla="val 18750"/>
            </a:avLst>
          </a:prstGeom>
          <a:solidFill>
            <a:schemeClr val="bg1"/>
          </a:solidFill>
          <a:ln w="9525">
            <a:solidFill>
              <a:schemeClr val="accent2">
                <a:alpha val="28000"/>
              </a:schemeClr>
            </a:solidFill>
          </a:ln>
        </p:spPr>
        <p:txBody>
          <a:bodyPr wrap="square" lIns="203200" tIns="76200" rIns="203200" bIns="76200" rtlCol="0" anchor="ctr"/>
          <a:lstStyle/>
          <a:p>
            <a:pPr marL="0" indent="0" algn="l">
              <a:lnSpc>
                <a:spcPct val="100000"/>
              </a:lnSpc>
              <a:spcBef>
                <a:spcPts val="0"/>
              </a:spcBef>
              <a:buNone/>
            </a:pPr>
            <a:r>
              <a:rPr lang="en-US" sz="1200" dirty="0">
                <a:solidFill>
                  <a:schemeClr val="tx1"/>
                </a:solidFill>
              </a:rPr>
              <a:t>A bug only inside the new app would not hurt users on old versions, but they fell 14.8 pp. So the main change most likely shipped on the server side with v3.9.6: 83% of the new-app drop (14.8 of 17.8 pp) also hit old-app users.</a:t>
            </a:r>
          </a:p>
        </p:txBody>
      </p:sp>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6</a:t>
            </a:fld>
            <a:endParaRPr lang="en-US"/>
          </a:p>
        </p:txBody>
      </p:sp>
      <p:pic>
        <p:nvPicPr>
          <p:cNvPr id="15" name="Picture 14">
            <a:extLst>
              <a:ext uri="{FF2B5EF4-FFF2-40B4-BE49-F238E27FC236}">
                <a16:creationId xmlns:a16="http://schemas.microsoft.com/office/drawing/2014/main" id="{B3D604EE-F870-B5E4-54DC-375C2560573B}"/>
              </a:ext>
            </a:extLst>
          </p:cNvPr>
          <p:cNvPicPr>
            <a:picLocks noChangeAspect="1"/>
          </p:cNvPicPr>
          <p:nvPr/>
        </p:nvPicPr>
        <p:blipFill>
          <a:blip r:embed="rId3"/>
          <a:stretch>
            <a:fillRect/>
          </a:stretch>
        </p:blipFill>
        <p:spPr>
          <a:xfrm>
            <a:off x="2936656" y="1377944"/>
            <a:ext cx="5818548" cy="3632185"/>
          </a:xfrm>
          <a:prstGeom prst="rect">
            <a:avLst/>
          </a:prstGeom>
        </p:spPr>
      </p:pic>
      <p:sp>
        <p:nvSpPr>
          <p:cNvPr id="6" name="Section tag">
            <a:extLst>
              <a:ext uri="{FF2B5EF4-FFF2-40B4-BE49-F238E27FC236}">
                <a16:creationId xmlns:a16="http://schemas.microsoft.com/office/drawing/2014/main" id="{62EA2D43-ECD8-0139-5C0E-60647B4166BB}"/>
              </a:ext>
            </a:extLst>
          </p:cNvPr>
          <p:cNvSpPr txBox="1"/>
          <p:nvPr/>
        </p:nvSpPr>
        <p:spPr>
          <a:xfrm>
            <a:off x="533400" y="361950"/>
            <a:ext cx="1247241"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INSIGHT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pPr marL="0" indent="0" algn="l">
              <a:buNone/>
            </a:pPr>
            <a:r>
              <a:rPr lang="en-US" sz="2000" b="1" dirty="0">
                <a:solidFill>
                  <a:schemeClr val="tx1"/>
                </a:solidFill>
              </a:rPr>
              <a:t>Authentication errors explain about three quarters of the drop</a:t>
            </a:r>
            <a:endParaRPr lang="en-US" sz="2000" dirty="0"/>
          </a:p>
        </p:txBody>
      </p:sp>
      <p:sp>
        <p:nvSpPr>
          <p:cNvPr id="4" name="Chart card left"/>
          <p:cNvSpPr/>
          <p:nvPr/>
        </p:nvSpPr>
        <p:spPr>
          <a:xfrm>
            <a:off x="533400" y="1263650"/>
            <a:ext cx="546735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8" name="Chart card right"/>
          <p:cNvSpPr/>
          <p:nvPr/>
        </p:nvSpPr>
        <p:spPr>
          <a:xfrm>
            <a:off x="6191250" y="1263650"/>
            <a:ext cx="546735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12" name="Explanation"/>
          <p:cNvSpPr txBox="1"/>
          <p:nvPr/>
        </p:nvSpPr>
        <p:spPr>
          <a:xfrm>
            <a:off x="533400" y="5440680"/>
            <a:ext cx="11125200" cy="996695"/>
          </a:xfrm>
          <a:prstGeom prst="roundRect">
            <a:avLst>
              <a:gd name="adj" fmla="val 18750"/>
            </a:avLst>
          </a:prstGeom>
          <a:solidFill>
            <a:schemeClr val="bg1"/>
          </a:solidFill>
          <a:ln w="9525">
            <a:solidFill>
              <a:schemeClr val="accent2">
                <a:alpha val="28000"/>
              </a:schemeClr>
            </a:solidFill>
          </a:ln>
        </p:spPr>
        <p:txBody>
          <a:bodyPr wrap="square" lIns="203200" tIns="76200" rIns="203200" bIns="76200" rtlCol="0" anchor="ctr"/>
          <a:lstStyle/>
          <a:p>
            <a:pPr marL="0" indent="0" algn="l">
              <a:lnSpc>
                <a:spcPct val="100000"/>
              </a:lnSpc>
              <a:spcBef>
                <a:spcPts val="0"/>
              </a:spcBef>
              <a:buNone/>
            </a:pPr>
            <a:r>
              <a:rPr lang="en-US" sz="1200" dirty="0">
                <a:solidFill>
                  <a:schemeClr val="tx1"/>
                </a:solidFill>
              </a:rPr>
              <a:t>Failure rate rose from 10.1% to 27.3% (+17.2 pp). Authentication alone added +12.7 pp (74%), system errors +2.8 pp (17%), all other groups +1.6 pp. The two biggest errors are about time: 3DS time-out and expired OTP (+11.8 pp, 69% of the rise).</a:t>
            </a:r>
          </a:p>
        </p:txBody>
      </p:sp>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7</a:t>
            </a:fld>
            <a:endParaRPr lang="en-US"/>
          </a:p>
        </p:txBody>
      </p:sp>
      <p:pic>
        <p:nvPicPr>
          <p:cNvPr id="16" name="Picture 15">
            <a:extLst>
              <a:ext uri="{FF2B5EF4-FFF2-40B4-BE49-F238E27FC236}">
                <a16:creationId xmlns:a16="http://schemas.microsoft.com/office/drawing/2014/main" id="{F058E1EF-4583-E02E-19CA-BB23445C63BD}"/>
              </a:ext>
            </a:extLst>
          </p:cNvPr>
          <p:cNvPicPr>
            <a:picLocks noChangeAspect="1"/>
          </p:cNvPicPr>
          <p:nvPr/>
        </p:nvPicPr>
        <p:blipFill>
          <a:blip r:embed="rId3"/>
          <a:stretch>
            <a:fillRect/>
          </a:stretch>
        </p:blipFill>
        <p:spPr>
          <a:xfrm>
            <a:off x="663131" y="1397748"/>
            <a:ext cx="5207889" cy="3579904"/>
          </a:xfrm>
          <a:prstGeom prst="rect">
            <a:avLst/>
          </a:prstGeom>
        </p:spPr>
      </p:pic>
      <p:pic>
        <p:nvPicPr>
          <p:cNvPr id="20" name="Picture 19">
            <a:extLst>
              <a:ext uri="{FF2B5EF4-FFF2-40B4-BE49-F238E27FC236}">
                <a16:creationId xmlns:a16="http://schemas.microsoft.com/office/drawing/2014/main" id="{5D27DD12-4BCE-7B65-908E-D5F27F962AAA}"/>
              </a:ext>
            </a:extLst>
          </p:cNvPr>
          <p:cNvPicPr>
            <a:picLocks noChangeAspect="1"/>
          </p:cNvPicPr>
          <p:nvPr/>
        </p:nvPicPr>
        <p:blipFill>
          <a:blip r:embed="rId4"/>
          <a:stretch>
            <a:fillRect/>
          </a:stretch>
        </p:blipFill>
        <p:spPr>
          <a:xfrm>
            <a:off x="6306875" y="1374242"/>
            <a:ext cx="5236100" cy="3626916"/>
          </a:xfrm>
          <a:prstGeom prst="rect">
            <a:avLst/>
          </a:prstGeom>
        </p:spPr>
      </p:pic>
      <p:sp>
        <p:nvSpPr>
          <p:cNvPr id="6" name="Section tag">
            <a:extLst>
              <a:ext uri="{FF2B5EF4-FFF2-40B4-BE49-F238E27FC236}">
                <a16:creationId xmlns:a16="http://schemas.microsoft.com/office/drawing/2014/main" id="{3587A5F9-597E-C7F1-B7F6-4CF9786D2E5C}"/>
              </a:ext>
            </a:extLst>
          </p:cNvPr>
          <p:cNvSpPr txBox="1"/>
          <p:nvPr/>
        </p:nvSpPr>
        <p:spPr>
          <a:xfrm>
            <a:off x="533400" y="361950"/>
            <a:ext cx="1247241"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INSIGHT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r>
              <a:rPr lang="en-US" dirty="0"/>
              <a:t>Auth errors peaked with 3.9.6, system errors with API v3.0; no release fixed them</a:t>
            </a:r>
            <a:endParaRPr lang="en-US" sz="2000" dirty="0"/>
          </a:p>
        </p:txBody>
      </p:sp>
      <p:sp>
        <p:nvSpPr>
          <p:cNvPr id="4" name="Chart card"/>
          <p:cNvSpPr/>
          <p:nvPr/>
        </p:nvSpPr>
        <p:spPr>
          <a:xfrm>
            <a:off x="533400" y="1231501"/>
            <a:ext cx="1112520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8" name="Explanation"/>
          <p:cNvSpPr txBox="1"/>
          <p:nvPr/>
        </p:nvSpPr>
        <p:spPr>
          <a:xfrm>
            <a:off x="533400" y="5440680"/>
            <a:ext cx="11125200" cy="996695"/>
          </a:xfrm>
          <a:prstGeom prst="roundRect">
            <a:avLst>
              <a:gd name="adj" fmla="val 18750"/>
            </a:avLst>
          </a:prstGeom>
          <a:solidFill>
            <a:schemeClr val="bg1"/>
          </a:solidFill>
          <a:ln w="9525">
            <a:solidFill>
              <a:schemeClr val="accent2">
                <a:alpha val="28000"/>
              </a:schemeClr>
            </a:solidFill>
          </a:ln>
        </p:spPr>
        <p:txBody>
          <a:bodyPr wrap="square" lIns="203200" tIns="76200" rIns="203200" bIns="76200" rtlCol="0" anchor="ctr"/>
          <a:lstStyle/>
          <a:p>
            <a:pPr marL="0" indent="0" algn="l">
              <a:lnSpc>
                <a:spcPct val="100000"/>
              </a:lnSpc>
              <a:spcBef>
                <a:spcPts val="0"/>
              </a:spcBef>
            </a:pPr>
            <a:r>
              <a:rPr lang="en-US" sz="1200" dirty="0">
                <a:solidFill>
                  <a:schemeClr val="tx1"/>
                </a:solidFill>
              </a:rPr>
              <a:t>3.9.6 (release notes: new security checks): auth errors jumped 3.8% → 21.2%, mostly 3DS time-outs. 3.9.7 (gateway API v3.0): system errors doubled 3.3% → 6.8%. 3.9.9 (longer transaction time-outs): auth errors rose again 11.2% → 16.0%.</a:t>
            </a:r>
          </a:p>
        </p:txBody>
      </p:sp>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8</a:t>
            </a:fld>
            <a:endParaRPr lang="en-US"/>
          </a:p>
        </p:txBody>
      </p:sp>
      <p:pic>
        <p:nvPicPr>
          <p:cNvPr id="16" name="Picture 15">
            <a:extLst>
              <a:ext uri="{FF2B5EF4-FFF2-40B4-BE49-F238E27FC236}">
                <a16:creationId xmlns:a16="http://schemas.microsoft.com/office/drawing/2014/main" id="{F20A9D71-3191-84EA-9293-E9E60AA4BBFA}"/>
              </a:ext>
            </a:extLst>
          </p:cNvPr>
          <p:cNvPicPr>
            <a:picLocks noChangeAspect="1"/>
          </p:cNvPicPr>
          <p:nvPr/>
        </p:nvPicPr>
        <p:blipFill>
          <a:blip r:embed="rId3"/>
          <a:stretch>
            <a:fillRect/>
          </a:stretch>
        </p:blipFill>
        <p:spPr>
          <a:xfrm>
            <a:off x="683378" y="1313144"/>
            <a:ext cx="10825244" cy="3684814"/>
          </a:xfrm>
          <a:prstGeom prst="rect">
            <a:avLst/>
          </a:prstGeom>
        </p:spPr>
      </p:pic>
      <p:sp>
        <p:nvSpPr>
          <p:cNvPr id="6" name="Section tag">
            <a:extLst>
              <a:ext uri="{FF2B5EF4-FFF2-40B4-BE49-F238E27FC236}">
                <a16:creationId xmlns:a16="http://schemas.microsoft.com/office/drawing/2014/main" id="{A240AD7B-8475-BD4B-855A-1E20E197EDC1}"/>
              </a:ext>
            </a:extLst>
          </p:cNvPr>
          <p:cNvSpPr txBox="1"/>
          <p:nvPr/>
        </p:nvSpPr>
        <p:spPr>
          <a:xfrm>
            <a:off x="533400" y="361950"/>
            <a:ext cx="1247241"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INSIGHT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pPr marL="0" indent="0" algn="l">
              <a:buNone/>
            </a:pPr>
            <a:r>
              <a:rPr lang="en-US" sz="2000" b="1" dirty="0">
                <a:solidFill>
                  <a:schemeClr val="tx1"/>
                </a:solidFill>
              </a:rPr>
              <a:t>Most failed bills are lost, and users rarely see a clear failure screen</a:t>
            </a:r>
            <a:endParaRPr lang="en-US" sz="2000" dirty="0"/>
          </a:p>
        </p:txBody>
      </p:sp>
      <p:sp>
        <p:nvSpPr>
          <p:cNvPr id="4" name="Chart card"/>
          <p:cNvSpPr/>
          <p:nvPr/>
        </p:nvSpPr>
        <p:spPr>
          <a:xfrm>
            <a:off x="2100036" y="1273533"/>
            <a:ext cx="8382000" cy="3848100"/>
          </a:xfrm>
          <a:prstGeom prst="roundRect">
            <a:avLst>
              <a:gd name="adj" fmla="val 3564"/>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sp>
        <p:nvSpPr>
          <p:cNvPr id="11" name="Explanation"/>
          <p:cNvSpPr txBox="1"/>
          <p:nvPr/>
        </p:nvSpPr>
        <p:spPr>
          <a:xfrm>
            <a:off x="533400" y="5440680"/>
            <a:ext cx="11125200" cy="996695"/>
          </a:xfrm>
          <a:prstGeom prst="roundRect">
            <a:avLst>
              <a:gd name="adj" fmla="val 18750"/>
            </a:avLst>
          </a:prstGeom>
          <a:solidFill>
            <a:schemeClr val="bg1"/>
          </a:solidFill>
          <a:ln w="9525">
            <a:solidFill>
              <a:schemeClr val="accent2">
                <a:alpha val="28000"/>
              </a:schemeClr>
            </a:solidFill>
          </a:ln>
        </p:spPr>
        <p:txBody>
          <a:bodyPr wrap="square" lIns="203200" tIns="76200" rIns="203200" bIns="76200" rtlCol="0" anchor="ctr"/>
          <a:lstStyle/>
          <a:p>
            <a:pPr marL="0" indent="0" algn="l">
              <a:lnSpc>
                <a:spcPct val="100000"/>
              </a:lnSpc>
              <a:spcBef>
                <a:spcPts val="0"/>
              </a:spcBef>
              <a:buNone/>
            </a:pPr>
            <a:r>
              <a:rPr lang="en-US" sz="1200" dirty="0">
                <a:solidFill>
                  <a:schemeClr val="tx1"/>
                </a:solidFill>
              </a:rPr>
              <a:t>Only 4% of failed bills were paid again within 7 days (same user, same bill). After Jul 28 only 11% reached the “failure” screen (36% before); 73% ended on “confirmation”, 12% on “success”, 4% on “pending”.</a:t>
            </a:r>
          </a:p>
        </p:txBody>
      </p:sp>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9</a:t>
            </a:fld>
            <a:endParaRPr lang="en-US"/>
          </a:p>
        </p:txBody>
      </p:sp>
      <p:pic>
        <p:nvPicPr>
          <p:cNvPr id="13" name="Picture 12">
            <a:extLst>
              <a:ext uri="{FF2B5EF4-FFF2-40B4-BE49-F238E27FC236}">
                <a16:creationId xmlns:a16="http://schemas.microsoft.com/office/drawing/2014/main" id="{44379B35-A732-9713-82CA-CC6C9FD3E168}"/>
              </a:ext>
            </a:extLst>
          </p:cNvPr>
          <p:cNvPicPr>
            <a:picLocks noChangeAspect="1"/>
          </p:cNvPicPr>
          <p:nvPr/>
        </p:nvPicPr>
        <p:blipFill>
          <a:blip r:embed="rId3"/>
          <a:stretch>
            <a:fillRect/>
          </a:stretch>
        </p:blipFill>
        <p:spPr>
          <a:xfrm>
            <a:off x="2449710" y="1317498"/>
            <a:ext cx="7682652" cy="3760171"/>
          </a:xfrm>
          <a:prstGeom prst="rect">
            <a:avLst/>
          </a:prstGeom>
        </p:spPr>
      </p:pic>
      <p:sp>
        <p:nvSpPr>
          <p:cNvPr id="6" name="Section tag">
            <a:extLst>
              <a:ext uri="{FF2B5EF4-FFF2-40B4-BE49-F238E27FC236}">
                <a16:creationId xmlns:a16="http://schemas.microsoft.com/office/drawing/2014/main" id="{E4C98D70-D4A5-C521-6D35-B79EC6F762D1}"/>
              </a:ext>
            </a:extLst>
          </p:cNvPr>
          <p:cNvSpPr txBox="1"/>
          <p:nvPr/>
        </p:nvSpPr>
        <p:spPr>
          <a:xfrm>
            <a:off x="533400" y="361950"/>
            <a:ext cx="1247241"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INSIGHT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txBox="1"/>
          <p:nvPr/>
        </p:nvSpPr>
        <p:spPr>
          <a:xfrm>
            <a:off x="533400" y="361950"/>
            <a:ext cx="1411834" cy="237744"/>
          </a:xfrm>
          <a:prstGeom prst="roundRect">
            <a:avLst>
              <a:gd name="adj" fmla="val 50000"/>
            </a:avLst>
          </a:prstGeom>
          <a:solidFill>
            <a:schemeClr val="accent3"/>
          </a:solidFill>
          <a:ln/>
        </p:spPr>
        <p:txBody>
          <a:bodyPr wrap="square" lIns="0" tIns="0" rIns="0" bIns="0" rtlCol="0" anchor="ctr"/>
          <a:lstStyle/>
          <a:p>
            <a:pPr marL="0" indent="0" algn="ctr">
              <a:buNone/>
            </a:pPr>
            <a:r>
              <a:rPr lang="en-US" sz="800" b="1" kern="0" spc="150" dirty="0">
                <a:solidFill>
                  <a:schemeClr val="bg1"/>
                </a:solidFill>
              </a:rPr>
              <a:t>RECOMMENDATION</a:t>
            </a:r>
            <a:endParaRPr lang="en-US" sz="800" dirty="0"/>
          </a:p>
        </p:txBody>
      </p:sp>
      <p:sp>
        <p:nvSpPr>
          <p:cNvPr id="3" name="Text 0"/>
          <p:cNvSpPr>
            <a:spLocks noGrp="1"/>
          </p:cNvSpPr>
          <p:nvPr>
            <p:ph type="title" idx="100" hasCustomPrompt="1"/>
          </p:nvPr>
        </p:nvSpPr>
        <p:spPr>
          <a:xfrm>
            <a:off x="533400" y="658368"/>
            <a:ext cx="11125200" cy="384048"/>
          </a:xfrm>
          <a:prstGeom prst="rect">
            <a:avLst/>
          </a:prstGeom>
          <a:noFill/>
          <a:ln/>
        </p:spPr>
        <p:txBody>
          <a:bodyPr wrap="square" lIns="0" tIns="0" rIns="0" bIns="0" rtlCol="0" anchor="t"/>
          <a:lstStyle/>
          <a:p>
            <a:pPr marL="0" indent="0" algn="l">
              <a:buNone/>
            </a:pPr>
            <a:r>
              <a:rPr lang="en-US" sz="2000" b="1" dirty="0">
                <a:solidFill>
                  <a:schemeClr val="tx1"/>
                </a:solidFill>
              </a:rPr>
              <a:t>Fix the bill payment authentication step first</a:t>
            </a:r>
            <a:endParaRPr lang="en-US" sz="2000" dirty="0"/>
          </a:p>
        </p:txBody>
      </p:sp>
      <p:sp>
        <p:nvSpPr>
          <p:cNvPr id="4" name="Table card"/>
          <p:cNvSpPr/>
          <p:nvPr/>
        </p:nvSpPr>
        <p:spPr>
          <a:xfrm>
            <a:off x="533400" y="1485900"/>
            <a:ext cx="11125200" cy="3924300"/>
          </a:xfrm>
          <a:prstGeom prst="roundRect">
            <a:avLst>
              <a:gd name="adj" fmla="val 3495"/>
            </a:avLst>
          </a:prstGeom>
          <a:solidFill>
            <a:schemeClr val="bg1"/>
          </a:solidFill>
          <a:ln w="9525">
            <a:solidFill>
              <a:schemeClr val="accent2">
                <a:alpha val="28000"/>
              </a:schemeClr>
            </a:solidFill>
            <a:prstDash val="solid"/>
          </a:ln>
          <a:effectLst>
            <a:outerShdw blurRad="101600" dist="25400" dir="5400000" algn="bl" rotWithShape="0">
              <a:srgbClr val="0284C7">
                <a:alpha val="10000"/>
              </a:srgbClr>
            </a:outerShdw>
          </a:effectLst>
        </p:spPr>
        <p:txBody>
          <a:bodyPr/>
          <a:lstStyle/>
          <a:p>
            <a:endParaRPr lang="en-US"/>
          </a:p>
        </p:txBody>
      </p:sp>
      <p:graphicFrame>
        <p:nvGraphicFramePr>
          <p:cNvPr id="14" name="Recommendation table"/>
          <p:cNvGraphicFramePr>
            <a:graphicFrameLocks noGrp="1"/>
          </p:cNvGraphicFramePr>
          <p:nvPr>
            <p:extLst>
              <p:ext uri="{D42A27DB-BD31-4B8C-83A1-F6EECF244321}">
                <p14:modId xmlns:p14="http://schemas.microsoft.com/office/powerpoint/2010/main" val="16293097"/>
              </p:ext>
            </p:extLst>
          </p:nvPr>
        </p:nvGraphicFramePr>
        <p:xfrm>
          <a:off x="670560" y="1773936"/>
          <a:ext cx="10850880" cy="3310128"/>
        </p:xfrm>
        <a:graphic>
          <a:graphicData uri="http://schemas.openxmlformats.org/drawingml/2006/table">
            <a:tbl>
              <a:tblPr/>
              <a:tblGrid>
                <a:gridCol w="4114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5867400">
                  <a:extLst>
                    <a:ext uri="{9D8B030D-6E8A-4147-A177-3AD203B41FA5}">
                      <a16:colId xmlns:a16="http://schemas.microsoft.com/office/drawing/2014/main" val="20002"/>
                    </a:ext>
                  </a:extLst>
                </a:gridCol>
              </a:tblGrid>
              <a:tr h="0">
                <a:tc>
                  <a:txBody>
                    <a:bodyPr/>
                    <a:lstStyle/>
                    <a:p>
                      <a:pPr marL="0" indent="0" algn="l">
                        <a:buNone/>
                      </a:pPr>
                      <a:endParaRPr lang="en-US" sz="900" dirty="0"/>
                    </a:p>
                  </a:txBody>
                  <a:tcPr marT="54864" marB="54864"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solidFill>
                      <a:schemeClr val="bg2"/>
                    </a:solidFill>
                  </a:tcPr>
                </a:tc>
                <a:tc>
                  <a:txBody>
                    <a:bodyPr/>
                    <a:lstStyle/>
                    <a:p>
                      <a:pPr marL="0" indent="0" algn="l">
                        <a:buNone/>
                      </a:pPr>
                      <a:r>
                        <a:rPr lang="en-US" sz="900" b="1" dirty="0">
                          <a:solidFill>
                            <a:schemeClr val="tx2"/>
                          </a:solidFill>
                        </a:rPr>
                        <a:t>Insight</a:t>
                      </a:r>
                      <a:endParaRPr lang="en-US" sz="900" dirty="0"/>
                    </a:p>
                  </a:txBody>
                  <a:tcPr marT="54864" marB="54864"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solidFill>
                      <a:schemeClr val="bg2"/>
                    </a:solidFill>
                  </a:tcPr>
                </a:tc>
                <a:tc>
                  <a:txBody>
                    <a:bodyPr/>
                    <a:lstStyle/>
                    <a:p>
                      <a:pPr marL="0" indent="0" algn="l">
                        <a:buNone/>
                      </a:pPr>
                      <a:r>
                        <a:rPr lang="en-US" sz="900" b="1" dirty="0">
                          <a:solidFill>
                            <a:schemeClr val="tx2"/>
                          </a:solidFill>
                        </a:rPr>
                        <a:t>Recommendation</a:t>
                      </a:r>
                      <a:endParaRPr lang="en-US" sz="900" dirty="0"/>
                    </a:p>
                  </a:txBody>
                  <a:tcPr marT="54864" marB="54864"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0">
                <a:tc>
                  <a:txBody>
                    <a:bodyPr/>
                    <a:lstStyle/>
                    <a:p>
                      <a:pPr marL="0" indent="0">
                        <a:buNone/>
                      </a:pPr>
                      <a:r>
                        <a:rPr lang="en-US" sz="1000" b="1" dirty="0">
                          <a:solidFill>
                            <a:schemeClr val="accent3"/>
                          </a:solidFill>
                        </a:rPr>
                        <a:t>1</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00" dirty="0">
                          <a:solidFill>
                            <a:schemeClr val="tx2"/>
                          </a:solidFill>
                        </a:rPr>
                        <a:t>Billing fell on Jul 28 for old and new apps alike → most likely a server-side change. About 70% of outages come from changes (Google SRE).</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50" b="1" dirty="0">
                          <a:solidFill>
                            <a:schemeClr val="tx1"/>
                          </a:solidFill>
                        </a:rPr>
                        <a:t>Roll back</a:t>
                      </a:r>
                      <a:r>
                        <a:rPr lang="en-US" sz="1050" dirty="0">
                          <a:solidFill>
                            <a:schemeClr val="tx1"/>
                          </a:solidFill>
                        </a:rPr>
                        <a:t> the Jul 28 server changes to the bill payment flow. Re-launch them step by step (5% → 25% → 100% of users) with auto-rollback if bill success rate drops 3 pp.</a:t>
                      </a:r>
                      <a:endParaRPr lang="en-US" sz="105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b="1" dirty="0">
                          <a:solidFill>
                            <a:schemeClr val="accent3"/>
                          </a:solidFill>
                        </a:rPr>
                        <a:t>2</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00" dirty="0">
                          <a:solidFill>
                            <a:schemeClr val="tx2"/>
                          </a:solidFill>
                        </a:rPr>
                        <a:t>No OTP succeeds after 30 s, almost no 3DS after 25 s. Slow: 3.8% of OTP and 11.1% of 3DS payments. 2+ tries never succeed (0 of 726). Time-outs and expired OTPs are 69% of the rise.</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50" b="1" dirty="0">
                          <a:solidFill>
                            <a:schemeClr val="tx1"/>
                          </a:solidFill>
                        </a:rPr>
                        <a:t>Find why the step got slower, then extend the limits:</a:t>
                      </a:r>
                      <a:r>
                        <a:rPr lang="en-US" sz="1050" dirty="0">
                          <a:solidFill>
                            <a:schemeClr val="tx1"/>
                          </a:solidFill>
                        </a:rPr>
                        <a:t> OTP 30 s → 3 min, 3DS wait → 5 min (EMV 3DS SDK minimum is 5 min; OWASP ASVS: OTP codes expire after 10 min). Add a countdown, check why retries never work, and test on 5% of users first.</a:t>
                      </a:r>
                      <a:endParaRPr lang="en-US" sz="105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b="1" dirty="0">
                          <a:solidFill>
                            <a:schemeClr val="accent3"/>
                          </a:solidFill>
                        </a:rPr>
                        <a:t>3</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00" dirty="0">
                          <a:solidFill>
                            <a:schemeClr val="tx2"/>
                          </a:solidFill>
                        </a:rPr>
                        <a:t>Release v3.9.7 (Aug 5, gateway API v3.0 and other backend changes) doubled system errors (3.3% → 6.8%); 3.9.9 did not fix it. 173 failed bills were server, gateway or bank errors.</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50" b="1" dirty="0">
                          <a:solidFill>
                            <a:schemeClr val="tx1"/>
                          </a:solidFill>
                        </a:rPr>
                        <a:t>Add auto-retry with a fallback route</a:t>
                      </a:r>
                      <a:r>
                        <a:rPr lang="en-US" sz="1050" dirty="0">
                          <a:solidFill>
                            <a:schemeClr val="tx1"/>
                          </a:solidFill>
                        </a:rPr>
                        <a:t> for gateway time-outs, using an idempotency key so a retry never charges twice. Review the v3.9.7 changes (API v3.0 settings, integrations) with the gateway partner.</a:t>
                      </a:r>
                      <a:endParaRPr lang="en-US" sz="105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00" b="1" dirty="0">
                          <a:solidFill>
                            <a:schemeClr val="accent3"/>
                          </a:solidFill>
                        </a:rPr>
                        <a:t>4</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00" dirty="0">
                          <a:solidFill>
                            <a:schemeClr val="tx2"/>
                          </a:solidFill>
                        </a:rPr>
                        <a:t>Only 11% of failed bills show a “failure” screen: time-outs end on “confirmation”, server errors on “success” or “pending”. Only 4% are paid later (≈$166K of extra failed bills).</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50" b="1" dirty="0">
                          <a:solidFill>
                            <a:schemeClr val="tx1"/>
                          </a:solidFill>
                        </a:rPr>
                        <a:t>Show a clear “Payment failed” screen for every failed bill</a:t>
                      </a:r>
                      <a:r>
                        <a:rPr lang="en-US" sz="1050" dirty="0">
                          <a:solidFill>
                            <a:schemeClr val="tx1"/>
                          </a:solidFill>
                        </a:rPr>
                        <a:t> with the reason and a “Try again” button. Show “success” only after the server confirms. Send a push/SMS: “Your bill was not paid” with a 1-tap retry.</a:t>
                      </a:r>
                      <a:endParaRPr lang="en-US" sz="105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000" b="1" dirty="0">
                          <a:solidFill>
                            <a:schemeClr val="accent3"/>
                          </a:solidFill>
                        </a:rPr>
                        <a:t>5</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00" dirty="0">
                          <a:solidFill>
                            <a:schemeClr val="tx2"/>
                          </a:solidFill>
                        </a:rPr>
                        <a:t>The drop ran for 5 weeks (Jul 28 – Aug 31) across 3 fix releases. Daily totals hid it: successful bills per day still rose.</a:t>
                      </a:r>
                      <a:endParaRPr lang="en-US" sz="100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050" b="1" dirty="0">
                          <a:solidFill>
                            <a:schemeClr val="tx1"/>
                          </a:solidFill>
                        </a:rPr>
                        <a:t>Add a real-time alert:</a:t>
                      </a:r>
                      <a:r>
                        <a:rPr lang="en-US" sz="1050" dirty="0">
                          <a:solidFill>
                            <a:schemeClr val="tx1"/>
                          </a:solidFill>
                        </a:rPr>
                        <a:t> page the on-call team when the last 100 bill payments fall below 80% success (backtest: fires on Jul 28 at 15:53, no false alarm in July). File time-out errors under a system group, not “user factors”.</a:t>
                      </a:r>
                      <a:endParaRPr lang="en-US" sz="1050" dirty="0"/>
                    </a:p>
                  </a:txBody>
                  <a:tcPr marT="68580" marB="68580" anchor="ctr">
                    <a:lnL w="0" cap="flat" cmpd="sng" algn="ctr">
                      <a:noFill/>
                    </a:lnL>
                    <a:lnR w="0" cap="flat" cmpd="sng" algn="ctr">
                      <a:noFill/>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09960" y="6528816"/>
            <a:ext cx="5486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Bill Payment RCA">
  <a:themeElements>
    <a:clrScheme name="Bill Payment RCA">
      <a:dk1>
        <a:srgbClr val="0F172A"/>
      </a:dk1>
      <a:lt1>
        <a:srgbClr val="FFFFFF"/>
      </a:lt1>
      <a:dk2>
        <a:srgbClr val="475569"/>
      </a:dk2>
      <a:lt2>
        <a:srgbClr val="F0F7FF"/>
      </a:lt2>
      <a:accent1>
        <a:srgbClr val="1B40C0"/>
      </a:accent1>
      <a:accent2>
        <a:srgbClr val="65B1ED"/>
      </a:accent2>
      <a:accent3>
        <a:srgbClr val="0284C7"/>
      </a:accent3>
      <a:accent4>
        <a:srgbClr val="B9C3D3"/>
      </a:accent4>
      <a:accent5>
        <a:srgbClr val="0B1950"/>
      </a:accent5>
      <a:accent6>
        <a:srgbClr val="94A3B8"/>
      </a:accent6>
      <a:hlink>
        <a:srgbClr val="0284C7"/>
      </a:hlink>
      <a:folHlink>
        <a:srgbClr val="1E3A8A"/>
      </a:folHlink>
    </a:clrScheme>
    <a:fontScheme name="Bill Payment RCA">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438</TotalTime>
  <Words>4613</Words>
  <Application>Microsoft Office PowerPoint</Application>
  <PresentationFormat>Widescreen</PresentationFormat>
  <Paragraphs>122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Poppins</vt:lpstr>
      <vt:lpstr>Bill Payment RCA</vt:lpstr>
      <vt:lpstr>Bill Payment Success Rate Drop Analysis</vt:lpstr>
      <vt:lpstr>Success rate fell from 92.1% to 87.3% after July 28</vt:lpstr>
      <vt:lpstr>Payments drove the drop, and Billing fell the most</vt:lpstr>
      <vt:lpstr>Billing success rate broke on July 28 and never came back</vt:lpstr>
      <vt:lpstr>Every bill type and every user group fell by about the same amount</vt:lpstr>
      <vt:lpstr>Users who did not update the app failed too, so the change was likely server-side</vt:lpstr>
      <vt:lpstr>Authentication errors explain about three quarters of the drop</vt:lpstr>
      <vt:lpstr>Auth errors peaked with 3.9.6, system errors with API v3.0; no release fixed them</vt:lpstr>
      <vt:lpstr>Most failed bills are lost, and users rarely see a clear failure screen</vt:lpstr>
      <vt:lpstr>Fix the bill payment authentication step first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Bill Payment Success Rate Drop Analysis</dc:title>
  <dc:subject>E-Wallet product analytics, Jul 1 - Aug 31, 2023</dc:subject>
  <dc:creator>E-Wallet Product Analytics</dc:creator>
  <cp:lastModifiedBy>mạnh phan</cp:lastModifiedBy>
  <cp:revision>5</cp:revision>
  <dcterms:created xsi:type="dcterms:W3CDTF">2026-10-14T21:07:09Z</dcterms:created>
  <dcterms:modified xsi:type="dcterms:W3CDTF">2026-10-15T13:59:25Z</dcterms:modified>
</cp:coreProperties>
</file>